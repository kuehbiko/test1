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5" r:id="rId9"/>
    <p:sldId id="264" r:id="rId10"/>
    <p:sldId id="266" r:id="rId11"/>
    <p:sldId id="267" r:id="rId12"/>
    <p:sldId id="276" r:id="rId13"/>
    <p:sldId id="268" r:id="rId14"/>
    <p:sldId id="273" r:id="rId15"/>
    <p:sldId id="274" r:id="rId16"/>
    <p:sldId id="275" r:id="rId17"/>
    <p:sldId id="270" r:id="rId18"/>
    <p:sldId id="269" r:id="rId19"/>
    <p:sldId id="27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4862"/>
    <a:srgbClr val="FF0000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605" y="1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CAF6A-DD05-9B11-5DC5-F54DFA0A94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FAAB74-43CE-A1EA-5C75-C9AAA0246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64800F-1A6E-427E-7CD3-967D0EB16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5B563-38A2-8D74-4153-0B32EE4D4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A06F6-ED24-2D65-D379-906D5016C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70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A945C-D1A0-D506-553E-AEAB4A349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B57CC-D73A-631F-DDE8-6E23038F7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5100B-B920-2106-A59F-EF2D4DEDF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C1C35-D6AB-5620-D71D-73ADCD412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298F3-2CE6-31C2-E68B-47390C340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626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90583-47B3-4A3C-4F2A-DBD6B7ED4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CDE95-F4B5-A155-F91C-A57699420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6B335-E8D2-3EB3-999A-D186CE232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3BD66-28C1-81ED-2D84-0B10F4EAF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EB070-D56F-219A-8F86-29BE767B0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02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616C7-C932-C9E7-D937-357ABF849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196B3-A01D-5CCD-4324-B459AACC4E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EA5C2B-6D9E-6941-CDC0-FBA1F92A6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48576-F71D-CAE7-5731-6EB484E01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2249-93B1-033A-7EBF-25B2FC8C8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10C002-DC10-846A-C8E1-EE03022CB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037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828C-1E53-2D37-3BF4-F31CFDB53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BF34E-C0E9-0C0C-0CA1-4FC3861FE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33F55C-C3B9-79D1-E656-6F33AF8CBA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9E01A4-2D81-C711-CD64-5248482AAC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480507-3CE8-280E-1B5D-2FAC9A8FB6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CF8A87-DF09-9411-38F0-75542CBED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A63AD4-B2C3-6730-D796-9090AFE2E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98ECB8-7895-C0E5-1921-706A35438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26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0F34-450C-5C49-CC99-A9066D70A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78CF9D-79AB-8908-A5C8-C8E481E3F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A4112A-C798-45E5-FB22-6A15642EF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0F2BD3-A86E-25B6-4BBF-A510C20C4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441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00A964-2566-5327-838A-F84D9460B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5D01F1-6789-B3EF-C763-EA9BDBAA7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A26DF-F31A-F62D-D013-9AF628D50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331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3FC2-90EE-6097-431D-F397AF212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51E3C-6868-FFAB-6309-2BE02E8B4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9BFAF-96CC-ABC3-C751-A77410A868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9C5A1F-55A2-3FCD-844C-42B5A07F6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AC15C-1409-EF26-8269-C242D3E8B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68B261-A8DD-D4DA-3123-FC588E4F5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65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D6FA-DD68-88F0-F6EE-83AADED1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9EDCC3-5247-19FF-1ED3-D436843413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01BEC8-E335-AF14-6867-AB27B0560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1F6EC8-C6F3-98E7-0F38-EDFE3361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5B068-BD17-2142-D0C2-BC50706BC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3A8EF-52CE-60A0-25B6-98CD118D5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87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10098-7BE7-D67D-E0C4-615B594E2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56889-D4A6-6BB9-16CA-052F1F189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F68AC1-2166-92AD-1DF2-BBD5AD898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F9F58E-950D-F13E-9509-8D850CCCC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164AE-2A49-E402-85F5-A435E4999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781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DB8642-224F-D80D-88BC-B0CF422DCD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7B40DE-EE48-C7ED-D92C-1A3A9AF422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AF4EE-06F9-C925-4F42-F7AAAE70C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267C2-049F-DF93-7E25-55B7858BF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ABF62-198F-531E-BCB4-5CE55E72F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617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1283BF-B0D4-E851-6689-C12ED01D7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5F713-E946-BC95-B051-C1AAA1C908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82071-D7CF-82BF-2150-2925AB2C60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0D6170-5D4C-4D18-BC2E-51D59AC3AA10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9E1B5-E8A3-233A-6022-B201BD7484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C9877-DA23-F7DE-C18E-7094C7815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024FF8-CD6F-46FB-B1DA-DDFA7789D83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2933F1-8941-490A-CE05-59BC62E7D24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671513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## RESTRICTED ##</a:t>
            </a:r>
          </a:p>
        </p:txBody>
      </p:sp>
    </p:spTree>
    <p:extLst>
      <p:ext uri="{BB962C8B-B14F-4D97-AF65-F5344CB8AC3E}">
        <p14:creationId xmlns:p14="http://schemas.microsoft.com/office/powerpoint/2010/main" val="2134280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F84B6-004D-DC2E-69DF-EE3517A53C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68575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Explaining World of Warcraft Boss Mechanics to People Who Don’t Play World of Warcraft So They Can Look At Me Like I’m Crazy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17D765-AED9-EB1C-5337-241C25316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8250"/>
            <a:ext cx="9144000" cy="1655762"/>
          </a:xfrm>
        </p:spPr>
        <p:txBody>
          <a:bodyPr/>
          <a:lstStyle/>
          <a:p>
            <a:r>
              <a:rPr lang="en-US" dirty="0"/>
              <a:t>A deep dive into the mechanics of the end boss of WoW Midnight Season 1 animated in MS pptx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E426EE0-5BDA-F2F1-1C81-8B4F0BFB5A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06F468-C17E-BA2B-8866-B4F305FCA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0837"/>
            <a:ext cx="3686689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900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FCEDE-781B-FE7D-61A3-EE7391BB1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200F9-3808-523A-239D-105C891B0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General Context</a:t>
            </a:r>
          </a:p>
          <a:p>
            <a:r>
              <a:rPr lang="en-US" dirty="0"/>
              <a:t>Fight Summary and Timeline</a:t>
            </a:r>
          </a:p>
          <a:p>
            <a:r>
              <a:rPr lang="en-US" dirty="0"/>
              <a:t>Explaining the Fight In Detail</a:t>
            </a:r>
          </a:p>
          <a:p>
            <a:pPr lvl="1"/>
            <a:r>
              <a:rPr lang="en-US" dirty="0"/>
              <a:t>Phase 1</a:t>
            </a:r>
          </a:p>
          <a:p>
            <a:pPr lvl="1"/>
            <a:r>
              <a:rPr lang="en-US" dirty="0"/>
              <a:t>Intermission </a:t>
            </a:r>
          </a:p>
          <a:p>
            <a:pPr lvl="1"/>
            <a:r>
              <a:rPr lang="en-US" dirty="0"/>
              <a:t>Phase 2</a:t>
            </a:r>
          </a:p>
          <a:p>
            <a:pPr lvl="1"/>
            <a:r>
              <a:rPr lang="en-US" dirty="0"/>
              <a:t>Phase 3</a:t>
            </a:r>
          </a:p>
          <a:p>
            <a:r>
              <a:rPr lang="en-US" dirty="0"/>
              <a:t>Some Fun Fight Statistics?</a:t>
            </a:r>
          </a:p>
          <a:p>
            <a:r>
              <a:rPr lang="en-US" dirty="0"/>
              <a:t>Request for Thoughts and Prayers</a:t>
            </a:r>
          </a:p>
        </p:txBody>
      </p:sp>
    </p:spTree>
    <p:extLst>
      <p:ext uri="{BB962C8B-B14F-4D97-AF65-F5344CB8AC3E}">
        <p14:creationId xmlns:p14="http://schemas.microsoft.com/office/powerpoint/2010/main" val="24716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42F0A-2479-D0D3-EDA4-D5B704B7E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F7121-B8F1-B41C-7CE0-5E2E8C8B97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2126265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…WORLD OF WARCRAFT?</a:t>
            </a:r>
          </a:p>
          <a:p>
            <a:r>
              <a:rPr lang="en-US" dirty="0"/>
              <a:t>Massively Multiplayer Online Role-Playing Game (MMORPG)</a:t>
            </a:r>
          </a:p>
          <a:p>
            <a:r>
              <a:rPr lang="en-US" dirty="0"/>
              <a:t>Massive waste of time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738F49-2D51-31E5-66D3-C29A9713D2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126265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…A SEASON?</a:t>
            </a:r>
          </a:p>
          <a:p>
            <a:r>
              <a:rPr lang="en-US" dirty="0"/>
              <a:t>Release cycle for new content</a:t>
            </a:r>
          </a:p>
          <a:p>
            <a:r>
              <a:rPr lang="en-US" dirty="0"/>
              <a:t>New content: Raids, Dungeons, Story Quests</a:t>
            </a:r>
          </a:p>
          <a:p>
            <a:r>
              <a:rPr lang="en-US" dirty="0"/>
              <a:t>Every ~6 months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935E32F-1539-7BF1-F8E4-B900ADB2DA33}"/>
              </a:ext>
            </a:extLst>
          </p:cNvPr>
          <p:cNvSpPr txBox="1">
            <a:spLocks/>
          </p:cNvSpPr>
          <p:nvPr/>
        </p:nvSpPr>
        <p:spPr>
          <a:xfrm>
            <a:off x="838200" y="4050698"/>
            <a:ext cx="5181600" cy="21262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…A RAID?</a:t>
            </a:r>
          </a:p>
          <a:p>
            <a:r>
              <a:rPr lang="en-US" dirty="0"/>
              <a:t>Series of challenging encounters more difficult than regular solo content</a:t>
            </a:r>
          </a:p>
          <a:p>
            <a:r>
              <a:rPr lang="en-US" dirty="0"/>
              <a:t>Requires more people/time and communication/coordination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B12585-BDC2-E2C7-C018-1C4AEEB68DE3}"/>
              </a:ext>
            </a:extLst>
          </p:cNvPr>
          <p:cNvSpPr txBox="1">
            <a:spLocks/>
          </p:cNvSpPr>
          <p:nvPr/>
        </p:nvSpPr>
        <p:spPr>
          <a:xfrm>
            <a:off x="6172200" y="4050697"/>
            <a:ext cx="5181600" cy="21262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dirty="0"/>
              <a:t>…MIDNIGHT FALLS?</a:t>
            </a:r>
          </a:p>
          <a:p>
            <a:r>
              <a:rPr lang="en-US" sz="2600" dirty="0"/>
              <a:t>Last encounter of this season’s raid</a:t>
            </a:r>
          </a:p>
          <a:p>
            <a:pPr lvl="1"/>
            <a:r>
              <a:rPr lang="en-US" sz="2200" dirty="0"/>
              <a:t>“Encounter” = Story</a:t>
            </a:r>
          </a:p>
          <a:p>
            <a:r>
              <a:rPr lang="en-US" sz="2600" dirty="0"/>
              <a:t>Actual boss character name is </a:t>
            </a:r>
            <a:r>
              <a:rPr lang="en-US" sz="2600" dirty="0" err="1"/>
              <a:t>L’ura</a:t>
            </a:r>
            <a:endParaRPr lang="en-US" sz="26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3080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35426-FF46-A636-3069-14A43F91E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AND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B975C8-E215-FD63-A1BE-838B7145AEEA}"/>
              </a:ext>
            </a:extLst>
          </p:cNvPr>
          <p:cNvSpPr/>
          <p:nvPr/>
        </p:nvSpPr>
        <p:spPr>
          <a:xfrm>
            <a:off x="838200" y="2406868"/>
            <a:ext cx="10515600" cy="10510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9956BA3-EDD5-5952-5830-45CF632148B1}"/>
              </a:ext>
            </a:extLst>
          </p:cNvPr>
          <p:cNvSpPr/>
          <p:nvPr/>
        </p:nvSpPr>
        <p:spPr>
          <a:xfrm>
            <a:off x="838200" y="2406868"/>
            <a:ext cx="105104" cy="10510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49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24D16-6C73-EAB8-944F-8FBF5A782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(00:00 – 03:06)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D7E13-FA1B-08D4-2EC4-B0FC75B1C9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Phase Summary:</a:t>
            </a:r>
          </a:p>
          <a:p>
            <a:r>
              <a:rPr lang="en-US" dirty="0"/>
              <a:t>3x cycles</a:t>
            </a:r>
          </a:p>
          <a:p>
            <a:r>
              <a:rPr lang="en-US" dirty="0"/>
              <a:t>New cycle every 1min 2s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551361-650C-670E-D98D-1F8A60CCD35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Important Mechanics</a:t>
            </a:r>
          </a:p>
          <a:p>
            <a:r>
              <a:rPr lang="en-US" dirty="0"/>
              <a:t>Matrices</a:t>
            </a:r>
          </a:p>
          <a:p>
            <a:r>
              <a:rPr lang="en-US" dirty="0"/>
              <a:t>Crystals</a:t>
            </a:r>
          </a:p>
          <a:p>
            <a:r>
              <a:rPr lang="en-US" dirty="0"/>
              <a:t>Glaives</a:t>
            </a:r>
          </a:p>
          <a:p>
            <a:r>
              <a:rPr lang="en-US" dirty="0"/>
              <a:t>Memory Game</a:t>
            </a:r>
          </a:p>
        </p:txBody>
      </p:sp>
    </p:spTree>
    <p:extLst>
      <p:ext uri="{BB962C8B-B14F-4D97-AF65-F5344CB8AC3E}">
        <p14:creationId xmlns:p14="http://schemas.microsoft.com/office/powerpoint/2010/main" val="3294325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597AA-E0ED-6CAD-B26F-07680724B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E137DE-63A6-6E68-9DA0-39F6DA192442}"/>
              </a:ext>
            </a:extLst>
          </p:cNvPr>
          <p:cNvSpPr/>
          <p:nvPr/>
        </p:nvSpPr>
        <p:spPr>
          <a:xfrm rot="13827597">
            <a:off x="10219539" y="992645"/>
            <a:ext cx="2251307" cy="2500193"/>
          </a:xfrm>
          <a:prstGeom prst="triangl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5E3CB0-25B3-85E4-A76E-F44091FE0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(Matrices)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DB411-6718-460F-F45A-8A1D6717DE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3x Matrices</a:t>
            </a:r>
          </a:p>
          <a:p>
            <a:r>
              <a:rPr lang="en-US" dirty="0"/>
              <a:t>4x interrupts PER Matrix</a:t>
            </a:r>
          </a:p>
          <a:p>
            <a:pPr lvl="1"/>
            <a:r>
              <a:rPr lang="en-US" dirty="0"/>
              <a:t>2s window</a:t>
            </a:r>
          </a:p>
          <a:p>
            <a:pPr lvl="1"/>
            <a:r>
              <a:rPr lang="en-US" dirty="0"/>
              <a:t>12 total required (16 available)</a:t>
            </a:r>
          </a:p>
          <a:p>
            <a:pPr lvl="1"/>
            <a:r>
              <a:rPr lang="en-US" dirty="0"/>
              <a:t>Order is assigned beforehand</a:t>
            </a:r>
          </a:p>
          <a:p>
            <a:r>
              <a:rPr lang="en-US" dirty="0"/>
              <a:t>If missed interrupt:</a:t>
            </a:r>
          </a:p>
          <a:p>
            <a:pPr lvl="1"/>
            <a:r>
              <a:rPr lang="en-US" dirty="0"/>
              <a:t>1-shot frontal cone = </a:t>
            </a:r>
            <a:r>
              <a:rPr lang="en-US" dirty="0">
                <a:solidFill>
                  <a:srgbClr val="FF0000"/>
                </a:solidFill>
              </a:rPr>
              <a:t>WIPE</a:t>
            </a:r>
          </a:p>
          <a:p>
            <a:r>
              <a:rPr lang="en-US" dirty="0"/>
              <a:t>If interrupted all successfully:</a:t>
            </a:r>
          </a:p>
          <a:p>
            <a:pPr lvl="1"/>
            <a:r>
              <a:rPr lang="en-US" dirty="0"/>
              <a:t>3x Dusk Crystals</a:t>
            </a:r>
          </a:p>
          <a:p>
            <a:pPr lvl="1"/>
            <a:r>
              <a:rPr lang="en-US" dirty="0"/>
              <a:t>6x Midnight Crystals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4FE709-15FA-0C63-F9C5-9E2E7ADBF53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</p:txBody>
      </p:sp>
      <p:pic>
        <p:nvPicPr>
          <p:cNvPr id="1026" name="Picture 2" descr="L'ura (IGC) - NPC - World of Warcraft">
            <a:extLst>
              <a:ext uri="{FF2B5EF4-FFF2-40B4-BE49-F238E27FC236}">
                <a16:creationId xmlns:a16="http://schemas.microsoft.com/office/drawing/2014/main" id="{32EE920C-E226-B443-CAB5-7201FDF22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1437" y="2929731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un 15">
            <a:extLst>
              <a:ext uri="{FF2B5EF4-FFF2-40B4-BE49-F238E27FC236}">
                <a16:creationId xmlns:a16="http://schemas.microsoft.com/office/drawing/2014/main" id="{84560C6B-C2A2-1108-A683-9D8ACDDFBA59}"/>
              </a:ext>
            </a:extLst>
          </p:cNvPr>
          <p:cNvSpPr/>
          <p:nvPr/>
        </p:nvSpPr>
        <p:spPr>
          <a:xfrm>
            <a:off x="7058779" y="2724916"/>
            <a:ext cx="819807" cy="819807"/>
          </a:xfrm>
          <a:prstGeom prst="su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un 16">
            <a:extLst>
              <a:ext uri="{FF2B5EF4-FFF2-40B4-BE49-F238E27FC236}">
                <a16:creationId xmlns:a16="http://schemas.microsoft.com/office/drawing/2014/main" id="{3D9CF9DD-C6D8-CCF7-58D6-610850506DC2}"/>
              </a:ext>
            </a:extLst>
          </p:cNvPr>
          <p:cNvSpPr/>
          <p:nvPr/>
        </p:nvSpPr>
        <p:spPr>
          <a:xfrm>
            <a:off x="9667433" y="2790606"/>
            <a:ext cx="819807" cy="819807"/>
          </a:xfrm>
          <a:prstGeom prst="su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un 17">
            <a:extLst>
              <a:ext uri="{FF2B5EF4-FFF2-40B4-BE49-F238E27FC236}">
                <a16:creationId xmlns:a16="http://schemas.microsoft.com/office/drawing/2014/main" id="{75D1A296-66DD-E4C9-44D9-56C5A59CA084}"/>
              </a:ext>
            </a:extLst>
          </p:cNvPr>
          <p:cNvSpPr/>
          <p:nvPr/>
        </p:nvSpPr>
        <p:spPr>
          <a:xfrm>
            <a:off x="8347900" y="5072856"/>
            <a:ext cx="819807" cy="819807"/>
          </a:xfrm>
          <a:prstGeom prst="su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6FD721-0A0F-D5A0-DF23-54F65EC3A4AE}"/>
              </a:ext>
            </a:extLst>
          </p:cNvPr>
          <p:cNvSpPr/>
          <p:nvPr/>
        </p:nvSpPr>
        <p:spPr>
          <a:xfrm>
            <a:off x="8842369" y="2395195"/>
            <a:ext cx="2511973" cy="25173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040888-B985-8C82-8688-0FE0511FBF07}"/>
              </a:ext>
            </a:extLst>
          </p:cNvPr>
          <p:cNvSpPr/>
          <p:nvPr/>
        </p:nvSpPr>
        <p:spPr>
          <a:xfrm>
            <a:off x="8841827" y="2399389"/>
            <a:ext cx="1645413" cy="24604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C12E5A-7E9C-3312-4223-851AB3B7A491}"/>
              </a:ext>
            </a:extLst>
          </p:cNvPr>
          <p:cNvSpPr/>
          <p:nvPr/>
        </p:nvSpPr>
        <p:spPr>
          <a:xfrm>
            <a:off x="8841827" y="2392277"/>
            <a:ext cx="2511973" cy="253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Smiley Face 23">
            <a:extLst>
              <a:ext uri="{FF2B5EF4-FFF2-40B4-BE49-F238E27FC236}">
                <a16:creationId xmlns:a16="http://schemas.microsoft.com/office/drawing/2014/main" id="{7EBD94A0-40F7-58C0-E3F8-CEA7B6B61408}"/>
              </a:ext>
            </a:extLst>
          </p:cNvPr>
          <p:cNvSpPr/>
          <p:nvPr/>
        </p:nvSpPr>
        <p:spPr>
          <a:xfrm>
            <a:off x="11191066" y="1358753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miley Face 24">
            <a:extLst>
              <a:ext uri="{FF2B5EF4-FFF2-40B4-BE49-F238E27FC236}">
                <a16:creationId xmlns:a16="http://schemas.microsoft.com/office/drawing/2014/main" id="{028B74B2-5765-EB3A-9C46-CDF4DBA19203}"/>
              </a:ext>
            </a:extLst>
          </p:cNvPr>
          <p:cNvSpPr/>
          <p:nvPr/>
        </p:nvSpPr>
        <p:spPr>
          <a:xfrm>
            <a:off x="11191066" y="1910546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miley Face 25">
            <a:extLst>
              <a:ext uri="{FF2B5EF4-FFF2-40B4-BE49-F238E27FC236}">
                <a16:creationId xmlns:a16="http://schemas.microsoft.com/office/drawing/2014/main" id="{60E070BC-E520-7359-E947-100CA35CF922}"/>
              </a:ext>
            </a:extLst>
          </p:cNvPr>
          <p:cNvSpPr/>
          <p:nvPr/>
        </p:nvSpPr>
        <p:spPr>
          <a:xfrm>
            <a:off x="11681111" y="1654083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2C4B13B4-F1DB-998F-7401-5C5670DE8F32}"/>
              </a:ext>
            </a:extLst>
          </p:cNvPr>
          <p:cNvSpPr/>
          <p:nvPr/>
        </p:nvSpPr>
        <p:spPr>
          <a:xfrm>
            <a:off x="11131737" y="1247281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Multiplication Sign 28">
            <a:extLst>
              <a:ext uri="{FF2B5EF4-FFF2-40B4-BE49-F238E27FC236}">
                <a16:creationId xmlns:a16="http://schemas.microsoft.com/office/drawing/2014/main" id="{B249965D-775B-8934-6895-2146DC5C244A}"/>
              </a:ext>
            </a:extLst>
          </p:cNvPr>
          <p:cNvSpPr/>
          <p:nvPr/>
        </p:nvSpPr>
        <p:spPr>
          <a:xfrm>
            <a:off x="11140725" y="1819779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Multiplication Sign 29">
            <a:extLst>
              <a:ext uri="{FF2B5EF4-FFF2-40B4-BE49-F238E27FC236}">
                <a16:creationId xmlns:a16="http://schemas.microsoft.com/office/drawing/2014/main" id="{6B41462D-84A2-3677-637E-406DA8046859}"/>
              </a:ext>
            </a:extLst>
          </p:cNvPr>
          <p:cNvSpPr/>
          <p:nvPr/>
        </p:nvSpPr>
        <p:spPr>
          <a:xfrm>
            <a:off x="11610615" y="1571105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26AD2C7-7110-5078-4C3E-5AF8727D81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657" b="37886"/>
          <a:stretch>
            <a:fillRect/>
          </a:stretch>
        </p:blipFill>
        <p:spPr bwMode="auto">
          <a:xfrm>
            <a:off x="5687876" y="3652244"/>
            <a:ext cx="6307902" cy="690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Diamond 30">
            <a:extLst>
              <a:ext uri="{FF2B5EF4-FFF2-40B4-BE49-F238E27FC236}">
                <a16:creationId xmlns:a16="http://schemas.microsoft.com/office/drawing/2014/main" id="{E37978FB-8B82-EF77-18C8-D300110E7B05}"/>
              </a:ext>
            </a:extLst>
          </p:cNvPr>
          <p:cNvSpPr/>
          <p:nvPr/>
        </p:nvSpPr>
        <p:spPr>
          <a:xfrm>
            <a:off x="6048494" y="5073678"/>
            <a:ext cx="468793" cy="924087"/>
          </a:xfrm>
          <a:prstGeom prst="diamond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Diamond 38">
            <a:extLst>
              <a:ext uri="{FF2B5EF4-FFF2-40B4-BE49-F238E27FC236}">
                <a16:creationId xmlns:a16="http://schemas.microsoft.com/office/drawing/2014/main" id="{2E3C280E-4D16-56DE-48FB-F46CA04C03B1}"/>
              </a:ext>
            </a:extLst>
          </p:cNvPr>
          <p:cNvSpPr/>
          <p:nvPr/>
        </p:nvSpPr>
        <p:spPr>
          <a:xfrm>
            <a:off x="7191278" y="5073678"/>
            <a:ext cx="468793" cy="924087"/>
          </a:xfrm>
          <a:prstGeom prst="diamond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Diamond 39">
            <a:extLst>
              <a:ext uri="{FF2B5EF4-FFF2-40B4-BE49-F238E27FC236}">
                <a16:creationId xmlns:a16="http://schemas.microsoft.com/office/drawing/2014/main" id="{149CDB15-4CDE-03AA-74CD-898FF1932F37}"/>
              </a:ext>
            </a:extLst>
          </p:cNvPr>
          <p:cNvSpPr/>
          <p:nvPr/>
        </p:nvSpPr>
        <p:spPr>
          <a:xfrm>
            <a:off x="6621062" y="5065114"/>
            <a:ext cx="468793" cy="924087"/>
          </a:xfrm>
          <a:prstGeom prst="diamond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Diamond 40">
            <a:extLst>
              <a:ext uri="{FF2B5EF4-FFF2-40B4-BE49-F238E27FC236}">
                <a16:creationId xmlns:a16="http://schemas.microsoft.com/office/drawing/2014/main" id="{2C371F1C-9910-2C15-387B-C38CCE7D3FD2}"/>
              </a:ext>
            </a:extLst>
          </p:cNvPr>
          <p:cNvSpPr/>
          <p:nvPr/>
        </p:nvSpPr>
        <p:spPr>
          <a:xfrm>
            <a:off x="8149081" y="5087684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Diamond 41">
            <a:extLst>
              <a:ext uri="{FF2B5EF4-FFF2-40B4-BE49-F238E27FC236}">
                <a16:creationId xmlns:a16="http://schemas.microsoft.com/office/drawing/2014/main" id="{D0C1755A-38E1-069E-BA49-31B0B89D64F3}"/>
              </a:ext>
            </a:extLst>
          </p:cNvPr>
          <p:cNvSpPr/>
          <p:nvPr/>
        </p:nvSpPr>
        <p:spPr>
          <a:xfrm>
            <a:off x="9291865" y="5087684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31D72D8A-1D83-910A-4441-FD8918F3FA42}"/>
              </a:ext>
            </a:extLst>
          </p:cNvPr>
          <p:cNvSpPr/>
          <p:nvPr/>
        </p:nvSpPr>
        <p:spPr>
          <a:xfrm>
            <a:off x="8721649" y="5079120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Diamond 43">
            <a:extLst>
              <a:ext uri="{FF2B5EF4-FFF2-40B4-BE49-F238E27FC236}">
                <a16:creationId xmlns:a16="http://schemas.microsoft.com/office/drawing/2014/main" id="{08524A3B-EA61-220C-AD9A-3C5FBA65AA80}"/>
              </a:ext>
            </a:extLst>
          </p:cNvPr>
          <p:cNvSpPr/>
          <p:nvPr/>
        </p:nvSpPr>
        <p:spPr>
          <a:xfrm>
            <a:off x="9869993" y="5082242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E1B99116-D5C7-BA7F-E44E-ED65CF8B3D36}"/>
              </a:ext>
            </a:extLst>
          </p:cNvPr>
          <p:cNvSpPr/>
          <p:nvPr/>
        </p:nvSpPr>
        <p:spPr>
          <a:xfrm>
            <a:off x="11012777" y="5082242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Diamond 45">
            <a:extLst>
              <a:ext uri="{FF2B5EF4-FFF2-40B4-BE49-F238E27FC236}">
                <a16:creationId xmlns:a16="http://schemas.microsoft.com/office/drawing/2014/main" id="{ED6E8807-A728-34FB-DCF3-9C9D567593D9}"/>
              </a:ext>
            </a:extLst>
          </p:cNvPr>
          <p:cNvSpPr/>
          <p:nvPr/>
        </p:nvSpPr>
        <p:spPr>
          <a:xfrm>
            <a:off x="10442561" y="5073678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Smiley Face 46">
            <a:extLst>
              <a:ext uri="{FF2B5EF4-FFF2-40B4-BE49-F238E27FC236}">
                <a16:creationId xmlns:a16="http://schemas.microsoft.com/office/drawing/2014/main" id="{A6753A6A-6BF2-FDC9-DFEF-E581B9BBC5A5}"/>
              </a:ext>
            </a:extLst>
          </p:cNvPr>
          <p:cNvSpPr/>
          <p:nvPr/>
        </p:nvSpPr>
        <p:spPr>
          <a:xfrm>
            <a:off x="10672165" y="117909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9DB98A-F59D-110E-ECF6-1C150C2DEE71}"/>
              </a:ext>
            </a:extLst>
          </p:cNvPr>
          <p:cNvSpPr txBox="1"/>
          <p:nvPr/>
        </p:nvSpPr>
        <p:spPr>
          <a:xfrm>
            <a:off x="9501499" y="2334188"/>
            <a:ext cx="120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seconds</a:t>
            </a:r>
          </a:p>
        </p:txBody>
      </p:sp>
    </p:spTree>
    <p:extLst>
      <p:ext uri="{BB962C8B-B14F-4D97-AF65-F5344CB8AC3E}">
        <p14:creationId xmlns:p14="http://schemas.microsoft.com/office/powerpoint/2010/main" val="2813589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500"/>
                            </p:stCondLst>
                            <p:childTnLst>
                              <p:par>
                                <p:cTn id="9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4" presetClass="exit" presetSubtype="1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4" presetClass="exit" presetSubtype="1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4" presetClass="exit" presetSubtype="1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3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5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1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4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8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2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5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16" grpId="1" animBg="1"/>
      <p:bldP spid="16" grpId="2" animBg="1"/>
      <p:bldP spid="17" grpId="0" animBg="1"/>
      <p:bldP spid="17" grpId="2" animBg="1"/>
      <p:bldP spid="18" grpId="0" animBg="1"/>
      <p:bldP spid="18" grpId="2" animBg="1"/>
      <p:bldP spid="21" grpId="0" animBg="1"/>
      <p:bldP spid="21" grpId="1" animBg="1"/>
      <p:bldP spid="22" grpId="0" animBg="1"/>
      <p:bldP spid="22" grpId="1" animBg="1"/>
      <p:bldP spid="22" grpId="2" animBg="1"/>
      <p:bldP spid="19" grpId="0" animBg="1"/>
      <p:bldP spid="19" grpId="1" animBg="1"/>
      <p:bldP spid="24" grpId="0" animBg="1"/>
      <p:bldP spid="25" grpId="0" animBg="1"/>
      <p:bldP spid="26" grpId="0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1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/>
      <p:bldP spid="48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1D739-D516-6DDB-7BDA-006D2211D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L'ura (IGC) - NPC - World of Warcraft">
            <a:extLst>
              <a:ext uri="{FF2B5EF4-FFF2-40B4-BE49-F238E27FC236}">
                <a16:creationId xmlns:a16="http://schemas.microsoft.com/office/drawing/2014/main" id="{3EDF2DF9-8BFE-3C06-DB23-4DB703BEB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1437" y="2929731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2889D361-46F1-4E56-C409-3538319EEF3B}"/>
              </a:ext>
            </a:extLst>
          </p:cNvPr>
          <p:cNvSpPr/>
          <p:nvPr/>
        </p:nvSpPr>
        <p:spPr>
          <a:xfrm>
            <a:off x="8578574" y="4753056"/>
            <a:ext cx="2511973" cy="25173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FBB3E8-DAF6-5191-DCDC-00771039F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(Crystals)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52C23-9DDB-1D9E-FE71-31B86D6A82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Midnight Crystals (6x)</a:t>
            </a:r>
          </a:p>
          <a:p>
            <a:pPr lvl="1"/>
            <a:r>
              <a:rPr lang="en-US" dirty="0"/>
              <a:t>Kill within 12s</a:t>
            </a:r>
          </a:p>
          <a:p>
            <a:pPr lvl="1"/>
            <a:r>
              <a:rPr lang="en-US" dirty="0"/>
              <a:t>Fail = </a:t>
            </a:r>
            <a:r>
              <a:rPr lang="en-US" dirty="0">
                <a:solidFill>
                  <a:srgbClr val="FF0000"/>
                </a:solidFill>
              </a:rPr>
              <a:t>WIPE</a:t>
            </a:r>
          </a:p>
          <a:p>
            <a:r>
              <a:rPr lang="en-US" dirty="0"/>
              <a:t>Dusk Crystals (3x)</a:t>
            </a:r>
          </a:p>
          <a:p>
            <a:pPr lvl="1"/>
            <a:r>
              <a:rPr lang="en-US" dirty="0"/>
              <a:t>Heal within 12s</a:t>
            </a:r>
          </a:p>
          <a:p>
            <a:pPr lvl="1"/>
            <a:r>
              <a:rPr lang="en-US" dirty="0"/>
              <a:t>Turns into Dawn Crystals at 100% HP</a:t>
            </a:r>
          </a:p>
          <a:p>
            <a:r>
              <a:rPr lang="en-US" dirty="0"/>
              <a:t>Dawn Crystals (3x)</a:t>
            </a:r>
          </a:p>
          <a:p>
            <a:pPr lvl="1"/>
            <a:r>
              <a:rPr lang="en-US" dirty="0"/>
              <a:t>3x players assigned to pick up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3FD0A3C0-CDE1-52C1-5632-594B40AE4068}"/>
              </a:ext>
            </a:extLst>
          </p:cNvPr>
          <p:cNvSpPr/>
          <p:nvPr/>
        </p:nvSpPr>
        <p:spPr>
          <a:xfrm>
            <a:off x="6048494" y="5073678"/>
            <a:ext cx="468793" cy="924087"/>
          </a:xfrm>
          <a:prstGeom prst="diamond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82660E88-A6AD-8066-7B2A-5239376DE691}"/>
              </a:ext>
            </a:extLst>
          </p:cNvPr>
          <p:cNvSpPr/>
          <p:nvPr/>
        </p:nvSpPr>
        <p:spPr>
          <a:xfrm>
            <a:off x="7191278" y="5073678"/>
            <a:ext cx="468793" cy="924087"/>
          </a:xfrm>
          <a:prstGeom prst="diamond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8043D8BD-5FB0-585E-8050-1BA48528717D}"/>
              </a:ext>
            </a:extLst>
          </p:cNvPr>
          <p:cNvSpPr/>
          <p:nvPr/>
        </p:nvSpPr>
        <p:spPr>
          <a:xfrm>
            <a:off x="6621062" y="5065114"/>
            <a:ext cx="468793" cy="924087"/>
          </a:xfrm>
          <a:prstGeom prst="diamond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Diamond 8">
            <a:extLst>
              <a:ext uri="{FF2B5EF4-FFF2-40B4-BE49-F238E27FC236}">
                <a16:creationId xmlns:a16="http://schemas.microsoft.com/office/drawing/2014/main" id="{58A44BDA-E778-E2FB-17B8-78C30C413801}"/>
              </a:ext>
            </a:extLst>
          </p:cNvPr>
          <p:cNvSpPr/>
          <p:nvPr/>
        </p:nvSpPr>
        <p:spPr>
          <a:xfrm>
            <a:off x="8149081" y="5087684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7697FF27-D171-5226-5C06-FC9DF8C0D018}"/>
              </a:ext>
            </a:extLst>
          </p:cNvPr>
          <p:cNvSpPr/>
          <p:nvPr/>
        </p:nvSpPr>
        <p:spPr>
          <a:xfrm>
            <a:off x="9291865" y="5087684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C6A49D15-1B6B-7EE4-9377-DBBFA7BE08DE}"/>
              </a:ext>
            </a:extLst>
          </p:cNvPr>
          <p:cNvSpPr/>
          <p:nvPr/>
        </p:nvSpPr>
        <p:spPr>
          <a:xfrm>
            <a:off x="8721649" y="5079120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iamond 11">
            <a:extLst>
              <a:ext uri="{FF2B5EF4-FFF2-40B4-BE49-F238E27FC236}">
                <a16:creationId xmlns:a16="http://schemas.microsoft.com/office/drawing/2014/main" id="{91B3389F-AB3A-16B8-BF40-42B1D6E55FA5}"/>
              </a:ext>
            </a:extLst>
          </p:cNvPr>
          <p:cNvSpPr/>
          <p:nvPr/>
        </p:nvSpPr>
        <p:spPr>
          <a:xfrm>
            <a:off x="9869993" y="5082242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1278B759-AEF9-26C5-BFFD-08781ECE8CBE}"/>
              </a:ext>
            </a:extLst>
          </p:cNvPr>
          <p:cNvSpPr/>
          <p:nvPr/>
        </p:nvSpPr>
        <p:spPr>
          <a:xfrm>
            <a:off x="11012777" y="5082242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iamond 13">
            <a:extLst>
              <a:ext uri="{FF2B5EF4-FFF2-40B4-BE49-F238E27FC236}">
                <a16:creationId xmlns:a16="http://schemas.microsoft.com/office/drawing/2014/main" id="{A80B647D-033B-07C7-0722-761C67508B5D}"/>
              </a:ext>
            </a:extLst>
          </p:cNvPr>
          <p:cNvSpPr/>
          <p:nvPr/>
        </p:nvSpPr>
        <p:spPr>
          <a:xfrm>
            <a:off x="10442561" y="5073678"/>
            <a:ext cx="468793" cy="924087"/>
          </a:xfrm>
          <a:prstGeom prst="diamond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DCBF05-1744-81DF-0AAE-4192F54BDF6A}"/>
              </a:ext>
            </a:extLst>
          </p:cNvPr>
          <p:cNvSpPr/>
          <p:nvPr/>
        </p:nvSpPr>
        <p:spPr>
          <a:xfrm>
            <a:off x="8578575" y="4753056"/>
            <a:ext cx="2511973" cy="2531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66DB1F-D904-7C25-DC38-3C17B8460752}"/>
              </a:ext>
            </a:extLst>
          </p:cNvPr>
          <p:cNvSpPr txBox="1"/>
          <p:nvPr/>
        </p:nvSpPr>
        <p:spPr>
          <a:xfrm>
            <a:off x="9169956" y="4695782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 seconds</a:t>
            </a:r>
          </a:p>
        </p:txBody>
      </p:sp>
      <p:pic>
        <p:nvPicPr>
          <p:cNvPr id="20" name="Picture 4">
            <a:extLst>
              <a:ext uri="{FF2B5EF4-FFF2-40B4-BE49-F238E27FC236}">
                <a16:creationId xmlns:a16="http://schemas.microsoft.com/office/drawing/2014/main" id="{70FA9E62-EB32-9994-3D33-093FCE6211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657" b="37886"/>
          <a:stretch>
            <a:fillRect/>
          </a:stretch>
        </p:blipFill>
        <p:spPr bwMode="auto">
          <a:xfrm>
            <a:off x="5687876" y="3652244"/>
            <a:ext cx="6307902" cy="690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Diamond 21">
            <a:extLst>
              <a:ext uri="{FF2B5EF4-FFF2-40B4-BE49-F238E27FC236}">
                <a16:creationId xmlns:a16="http://schemas.microsoft.com/office/drawing/2014/main" id="{26D686FC-E2FE-57D3-CDFC-39E62D8095A0}"/>
              </a:ext>
            </a:extLst>
          </p:cNvPr>
          <p:cNvSpPr/>
          <p:nvPr/>
        </p:nvSpPr>
        <p:spPr>
          <a:xfrm>
            <a:off x="6049542" y="5083203"/>
            <a:ext cx="468793" cy="924087"/>
          </a:xfrm>
          <a:prstGeom prst="diamond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Diamond 22">
            <a:extLst>
              <a:ext uri="{FF2B5EF4-FFF2-40B4-BE49-F238E27FC236}">
                <a16:creationId xmlns:a16="http://schemas.microsoft.com/office/drawing/2014/main" id="{573C2C2B-5470-B513-DBF3-5A0672D87932}"/>
              </a:ext>
            </a:extLst>
          </p:cNvPr>
          <p:cNvSpPr/>
          <p:nvPr/>
        </p:nvSpPr>
        <p:spPr>
          <a:xfrm>
            <a:off x="7192326" y="5083203"/>
            <a:ext cx="468793" cy="924087"/>
          </a:xfrm>
          <a:prstGeom prst="diamond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iamond 23">
            <a:extLst>
              <a:ext uri="{FF2B5EF4-FFF2-40B4-BE49-F238E27FC236}">
                <a16:creationId xmlns:a16="http://schemas.microsoft.com/office/drawing/2014/main" id="{B74B43E0-9B95-9E15-4739-9A9B32BC3702}"/>
              </a:ext>
            </a:extLst>
          </p:cNvPr>
          <p:cNvSpPr/>
          <p:nvPr/>
        </p:nvSpPr>
        <p:spPr>
          <a:xfrm>
            <a:off x="6622110" y="5074639"/>
            <a:ext cx="468793" cy="924087"/>
          </a:xfrm>
          <a:prstGeom prst="diamond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Smiley Face 30">
            <a:extLst>
              <a:ext uri="{FF2B5EF4-FFF2-40B4-BE49-F238E27FC236}">
                <a16:creationId xmlns:a16="http://schemas.microsoft.com/office/drawing/2014/main" id="{1AC02983-CA47-6F8F-8AB2-E55BEA734AFF}"/>
              </a:ext>
            </a:extLst>
          </p:cNvPr>
          <p:cNvSpPr/>
          <p:nvPr/>
        </p:nvSpPr>
        <p:spPr>
          <a:xfrm>
            <a:off x="11191066" y="1358753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Smiley Face 31">
            <a:extLst>
              <a:ext uri="{FF2B5EF4-FFF2-40B4-BE49-F238E27FC236}">
                <a16:creationId xmlns:a16="http://schemas.microsoft.com/office/drawing/2014/main" id="{2ADFA23A-CF08-67AA-41EC-4799FB733371}"/>
              </a:ext>
            </a:extLst>
          </p:cNvPr>
          <p:cNvSpPr/>
          <p:nvPr/>
        </p:nvSpPr>
        <p:spPr>
          <a:xfrm>
            <a:off x="11191066" y="1910546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Smiley Face 32">
            <a:extLst>
              <a:ext uri="{FF2B5EF4-FFF2-40B4-BE49-F238E27FC236}">
                <a16:creationId xmlns:a16="http://schemas.microsoft.com/office/drawing/2014/main" id="{0D564BE7-761A-8448-8829-2D1DF1A82100}"/>
              </a:ext>
            </a:extLst>
          </p:cNvPr>
          <p:cNvSpPr/>
          <p:nvPr/>
        </p:nvSpPr>
        <p:spPr>
          <a:xfrm>
            <a:off x="11681111" y="1654083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Smiley Face 33">
            <a:extLst>
              <a:ext uri="{FF2B5EF4-FFF2-40B4-BE49-F238E27FC236}">
                <a16:creationId xmlns:a16="http://schemas.microsoft.com/office/drawing/2014/main" id="{F978ED79-02D8-8B6C-951F-B1511262D13F}"/>
              </a:ext>
            </a:extLst>
          </p:cNvPr>
          <p:cNvSpPr/>
          <p:nvPr/>
        </p:nvSpPr>
        <p:spPr>
          <a:xfrm>
            <a:off x="10672165" y="117909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3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0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6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2000"/>
                            </p:stCondLst>
                            <p:childTnLst>
                              <p:par>
                                <p:cTn id="91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000"/>
                            </p:stCondLst>
                            <p:childTnLst>
                              <p:par>
                                <p:cTn id="94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49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-3.33333E-6 L -0.41835 0.6463 " pathEditMode="relative" rAng="0" ptsTypes="AA">
                                      <p:cBhvr>
                                        <p:cTn id="109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924" y="32315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1.11111E-6 L -0.37174 0.56574 " pathEditMode="relative" rAng="0" ptsTypes="AA">
                                      <p:cBhvr>
                                        <p:cTn id="111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594" y="28287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3.7037E-7 L -0.36537 0.60417 " pathEditMode="relative" rAng="0" ptsTypes="AA">
                                      <p:cBhvr>
                                        <p:cTn id="113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68" y="30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7" dur="500" fill="hold"/>
                                        <p:tgtEl>
                                          <p:spTgt spid="22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9" dur="500" fill="hold"/>
                                        <p:tgtEl>
                                          <p:spTgt spid="24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  <p:par>
                                <p:cTn id="120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1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500"/>
                            </p:stCondLst>
                            <p:childTnLst>
                              <p:par>
                                <p:cTn id="123" presetID="26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6" presetID="2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" presetID="2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19" grpId="2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7" grpId="0" animBg="1"/>
      <p:bldP spid="17" grpId="1" animBg="1"/>
      <p:bldP spid="18" grpId="0"/>
      <p:bldP spid="18" grpId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1" animBg="1"/>
      <p:bldP spid="24" grpId="2" animBg="1"/>
      <p:bldP spid="31" grpId="0" animBg="1"/>
      <p:bldP spid="32" grpId="0" animBg="1"/>
      <p:bldP spid="3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CE0410BA-DB22-9DBE-207B-E16788C2957A}"/>
              </a:ext>
            </a:extLst>
          </p:cNvPr>
          <p:cNvSpPr/>
          <p:nvPr/>
        </p:nvSpPr>
        <p:spPr>
          <a:xfrm>
            <a:off x="4457838" y="681037"/>
            <a:ext cx="9206744" cy="92067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279D1C9-B6A4-5E2D-3691-F0A13C6788E2}"/>
              </a:ext>
            </a:extLst>
          </p:cNvPr>
          <p:cNvSpPr/>
          <p:nvPr/>
        </p:nvSpPr>
        <p:spPr>
          <a:xfrm>
            <a:off x="3718561" y="1422400"/>
            <a:ext cx="2152828" cy="5679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9ED5CD-35DF-CE11-76A6-0F8733D82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(Glaives)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C8158-2840-5F43-B3F8-D13F109538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4668409" cy="4351338"/>
          </a:xfrm>
        </p:spPr>
        <p:txBody>
          <a:bodyPr/>
          <a:lstStyle/>
          <a:p>
            <a:r>
              <a:rPr lang="en-US" dirty="0"/>
              <a:t>5x Glaives</a:t>
            </a:r>
          </a:p>
          <a:p>
            <a:pPr lvl="1"/>
            <a:r>
              <a:rPr lang="en-US" dirty="0"/>
              <a:t>They ricochet! </a:t>
            </a:r>
          </a:p>
          <a:p>
            <a:pPr lvl="1"/>
            <a:r>
              <a:rPr lang="en-US" dirty="0"/>
              <a:t>Fly around the room for 1 min</a:t>
            </a:r>
          </a:p>
          <a:p>
            <a:r>
              <a:rPr lang="en-US" dirty="0"/>
              <a:t>Player gets hit = Player DEAD</a:t>
            </a:r>
          </a:p>
          <a:p>
            <a:r>
              <a:rPr lang="en-US" dirty="0"/>
              <a:t>Player with crystal gets hit = Player AND crystal DEAD = </a:t>
            </a:r>
            <a:r>
              <a:rPr lang="en-US" dirty="0">
                <a:solidFill>
                  <a:srgbClr val="FF0000"/>
                </a:solidFill>
              </a:rPr>
              <a:t>WIPE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B54D9B-EA4F-97D1-949B-91B0D47BBC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2" descr="L'ura (IGC) - NPC - World of Warcraft">
            <a:extLst>
              <a:ext uri="{FF2B5EF4-FFF2-40B4-BE49-F238E27FC236}">
                <a16:creationId xmlns:a16="http://schemas.microsoft.com/office/drawing/2014/main" id="{03CC1FE7-E2C7-32BB-38A2-030EAC6E86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1437" y="2929731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miley Face 6">
            <a:extLst>
              <a:ext uri="{FF2B5EF4-FFF2-40B4-BE49-F238E27FC236}">
                <a16:creationId xmlns:a16="http://schemas.microsoft.com/office/drawing/2014/main" id="{D5AF52FB-524B-DB07-F3C9-DD6BBC37B354}"/>
              </a:ext>
            </a:extLst>
          </p:cNvPr>
          <p:cNvSpPr/>
          <p:nvPr/>
        </p:nvSpPr>
        <p:spPr>
          <a:xfrm>
            <a:off x="9998271" y="577757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miley Face 13">
            <a:extLst>
              <a:ext uri="{FF2B5EF4-FFF2-40B4-BE49-F238E27FC236}">
                <a16:creationId xmlns:a16="http://schemas.microsoft.com/office/drawing/2014/main" id="{0A86B04A-1897-8A2C-6428-79D73B4B8D7E}"/>
              </a:ext>
            </a:extLst>
          </p:cNvPr>
          <p:cNvSpPr/>
          <p:nvPr/>
        </p:nvSpPr>
        <p:spPr>
          <a:xfrm>
            <a:off x="6072553" y="5802831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miley Face 14">
            <a:extLst>
              <a:ext uri="{FF2B5EF4-FFF2-40B4-BE49-F238E27FC236}">
                <a16:creationId xmlns:a16="http://schemas.microsoft.com/office/drawing/2014/main" id="{A3E152CF-4679-473E-7FFD-85B2EA130C49}"/>
              </a:ext>
            </a:extLst>
          </p:cNvPr>
          <p:cNvSpPr/>
          <p:nvPr/>
        </p:nvSpPr>
        <p:spPr>
          <a:xfrm>
            <a:off x="6652651" y="5794267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miley Face 15">
            <a:extLst>
              <a:ext uri="{FF2B5EF4-FFF2-40B4-BE49-F238E27FC236}">
                <a16:creationId xmlns:a16="http://schemas.microsoft.com/office/drawing/2014/main" id="{42E8452A-9730-18BC-6C8E-CF2367751C7D}"/>
              </a:ext>
            </a:extLst>
          </p:cNvPr>
          <p:cNvSpPr/>
          <p:nvPr/>
        </p:nvSpPr>
        <p:spPr>
          <a:xfrm>
            <a:off x="7220358" y="5802831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41CC7475-3DE9-A5CA-4441-83EF4679350F}"/>
              </a:ext>
            </a:extLst>
          </p:cNvPr>
          <p:cNvSpPr/>
          <p:nvPr/>
        </p:nvSpPr>
        <p:spPr>
          <a:xfrm>
            <a:off x="6142207" y="5271781"/>
            <a:ext cx="269404" cy="531050"/>
          </a:xfrm>
          <a:prstGeom prst="diamond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iamond 17">
            <a:extLst>
              <a:ext uri="{FF2B5EF4-FFF2-40B4-BE49-F238E27FC236}">
                <a16:creationId xmlns:a16="http://schemas.microsoft.com/office/drawing/2014/main" id="{045A9685-02AA-5F42-52C4-12B85886F896}"/>
              </a:ext>
            </a:extLst>
          </p:cNvPr>
          <p:cNvSpPr/>
          <p:nvPr/>
        </p:nvSpPr>
        <p:spPr>
          <a:xfrm>
            <a:off x="7284991" y="5271781"/>
            <a:ext cx="269404" cy="531050"/>
          </a:xfrm>
          <a:prstGeom prst="diamond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3692F40E-B799-C6E9-A549-C96AC95BCA91}"/>
              </a:ext>
            </a:extLst>
          </p:cNvPr>
          <p:cNvSpPr/>
          <p:nvPr/>
        </p:nvSpPr>
        <p:spPr>
          <a:xfrm>
            <a:off x="6714775" y="5263217"/>
            <a:ext cx="269404" cy="531050"/>
          </a:xfrm>
          <a:prstGeom prst="diamond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hord 20">
            <a:extLst>
              <a:ext uri="{FF2B5EF4-FFF2-40B4-BE49-F238E27FC236}">
                <a16:creationId xmlns:a16="http://schemas.microsoft.com/office/drawing/2014/main" id="{8210AD0E-E625-0C35-F545-79F38F24F7F5}"/>
              </a:ext>
            </a:extLst>
          </p:cNvPr>
          <p:cNvSpPr/>
          <p:nvPr/>
        </p:nvSpPr>
        <p:spPr>
          <a:xfrm>
            <a:off x="7878502" y="-674729"/>
            <a:ext cx="2365417" cy="2365417"/>
          </a:xfrm>
          <a:prstGeom prst="chord">
            <a:avLst>
              <a:gd name="adj1" fmla="val 428265"/>
              <a:gd name="adj2" fmla="val 1034456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6B6D0F34-5F15-4B7A-10FA-6BC8BE2805E3}"/>
              </a:ext>
            </a:extLst>
          </p:cNvPr>
          <p:cNvSpPr/>
          <p:nvPr/>
        </p:nvSpPr>
        <p:spPr>
          <a:xfrm>
            <a:off x="9268618" y="4774644"/>
            <a:ext cx="596424" cy="596424"/>
          </a:xfrm>
          <a:prstGeom prst="star5">
            <a:avLst>
              <a:gd name="adj" fmla="val 28343"/>
              <a:gd name="hf" fmla="val 105146"/>
              <a:gd name="vf" fmla="val 11055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9AD6B1D3-D9E7-4D2A-0E37-731E0C150276}"/>
              </a:ext>
            </a:extLst>
          </p:cNvPr>
          <p:cNvSpPr/>
          <p:nvPr/>
        </p:nvSpPr>
        <p:spPr>
          <a:xfrm>
            <a:off x="9804082" y="3237389"/>
            <a:ext cx="596424" cy="596424"/>
          </a:xfrm>
          <a:prstGeom prst="star5">
            <a:avLst>
              <a:gd name="adj" fmla="val 28343"/>
              <a:gd name="hf" fmla="val 105146"/>
              <a:gd name="vf" fmla="val 11055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7F677F4F-A074-09DE-7FCA-C34B62901A81}"/>
              </a:ext>
            </a:extLst>
          </p:cNvPr>
          <p:cNvSpPr/>
          <p:nvPr/>
        </p:nvSpPr>
        <p:spPr>
          <a:xfrm>
            <a:off x="8464787" y="2252253"/>
            <a:ext cx="596424" cy="596424"/>
          </a:xfrm>
          <a:prstGeom prst="star5">
            <a:avLst>
              <a:gd name="adj" fmla="val 28343"/>
              <a:gd name="hf" fmla="val 105146"/>
              <a:gd name="vf" fmla="val 11055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078CA6ED-4EFD-C72F-7690-99B6AE36E5A5}"/>
              </a:ext>
            </a:extLst>
          </p:cNvPr>
          <p:cNvSpPr/>
          <p:nvPr/>
        </p:nvSpPr>
        <p:spPr>
          <a:xfrm>
            <a:off x="7125493" y="3223657"/>
            <a:ext cx="596424" cy="596424"/>
          </a:xfrm>
          <a:prstGeom prst="star5">
            <a:avLst>
              <a:gd name="adj" fmla="val 28343"/>
              <a:gd name="hf" fmla="val 105146"/>
              <a:gd name="vf" fmla="val 11055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A99C90BE-6079-2334-6C0D-A913D49182F7}"/>
              </a:ext>
            </a:extLst>
          </p:cNvPr>
          <p:cNvSpPr/>
          <p:nvPr/>
        </p:nvSpPr>
        <p:spPr>
          <a:xfrm>
            <a:off x="7605394" y="4774644"/>
            <a:ext cx="596424" cy="596424"/>
          </a:xfrm>
          <a:prstGeom prst="star5">
            <a:avLst>
              <a:gd name="adj" fmla="val 28343"/>
              <a:gd name="hf" fmla="val 105146"/>
              <a:gd name="vf" fmla="val 11055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4D3DD5FF-1665-955B-EB48-6919AD6A1619}"/>
              </a:ext>
            </a:extLst>
          </p:cNvPr>
          <p:cNvSpPr/>
          <p:nvPr/>
        </p:nvSpPr>
        <p:spPr>
          <a:xfrm>
            <a:off x="9915293" y="5719853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EC65A121-1EFC-05DA-9DB2-955DFDC77755}"/>
              </a:ext>
            </a:extLst>
          </p:cNvPr>
          <p:cNvSpPr/>
          <p:nvPr/>
        </p:nvSpPr>
        <p:spPr>
          <a:xfrm>
            <a:off x="7150888" y="5746552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Multiplication Sign 28">
            <a:extLst>
              <a:ext uri="{FF2B5EF4-FFF2-40B4-BE49-F238E27FC236}">
                <a16:creationId xmlns:a16="http://schemas.microsoft.com/office/drawing/2014/main" id="{60997E28-567B-125C-4A7C-9CEB02510222}"/>
              </a:ext>
            </a:extLst>
          </p:cNvPr>
          <p:cNvSpPr/>
          <p:nvPr/>
        </p:nvSpPr>
        <p:spPr>
          <a:xfrm>
            <a:off x="6572033" y="5726838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C0ED965-7A31-0A54-2758-91A339C309AE}"/>
              </a:ext>
            </a:extLst>
          </p:cNvPr>
          <p:cNvSpPr/>
          <p:nvPr/>
        </p:nvSpPr>
        <p:spPr>
          <a:xfrm>
            <a:off x="9488251" y="5499327"/>
            <a:ext cx="1419431" cy="955878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A273C0-26C0-68B2-A856-6EFB31A30818}"/>
              </a:ext>
            </a:extLst>
          </p:cNvPr>
          <p:cNvSpPr/>
          <p:nvPr/>
        </p:nvSpPr>
        <p:spPr>
          <a:xfrm>
            <a:off x="6441172" y="5515915"/>
            <a:ext cx="1419431" cy="955878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4">
            <a:extLst>
              <a:ext uri="{FF2B5EF4-FFF2-40B4-BE49-F238E27FC236}">
                <a16:creationId xmlns:a16="http://schemas.microsoft.com/office/drawing/2014/main" id="{C69A90FF-AA49-0487-4525-3A4720B0D5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657" b="37886"/>
          <a:stretch>
            <a:fillRect/>
          </a:stretch>
        </p:blipFill>
        <p:spPr bwMode="auto">
          <a:xfrm>
            <a:off x="5687876" y="3652244"/>
            <a:ext cx="6307902" cy="690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4304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9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7.40741E-7 L 0.18086 -0.10023 " pathEditMode="relative" rAng="0" ptsTypes="AA">
                                      <p:cBhvr>
                                        <p:cTn id="37" dur="3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036" y="-5023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4.07407E-6 L -0.14882 -0.08704 " pathEditMode="relative" rAng="0" ptsTypes="AA">
                                      <p:cBhvr>
                                        <p:cTn id="39" dur="3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448" y="-4352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3.33333E-6 L 0.11953 0.27963 " pathEditMode="relative" rAng="0" ptsTypes="AA">
                                      <p:cBhvr>
                                        <p:cTn id="41" dur="3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977" y="13981"/>
                                    </p:animMotion>
                                  </p:childTnLst>
                                </p:cTn>
                              </p:par>
                              <p:par>
                                <p:cTn id="42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-3.33333E-6 L -0.12227 0.26922 " pathEditMode="relative" rAng="0" ptsTypes="AA">
                                      <p:cBhvr>
                                        <p:cTn id="43" dur="3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120" y="13449"/>
                                    </p:animMotion>
                                  </p:childTnLst>
                                </p:cTn>
                              </p:par>
                              <p:par>
                                <p:cTn id="44" presetID="4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91 -0.0007 L -0.00091 -0.08287 C -0.00091 -0.11991 0.0026 -0.13472 -0.02878 -0.13472 C -0.05221 -0.13472 -0.11979 -0.13495 -0.14297 -0.13495 " pathEditMode="relative" rAng="16200000" ptsTypes="AAAA">
                                      <p:cBhvr>
                                        <p:cTn id="45" dur="3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096" y="-6713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 tmFilter="0, 0; .2, .5; .8, .5; 1, 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8" dur="25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500"/>
                            </p:stCondLst>
                            <p:childTnLst>
                              <p:par>
                                <p:cTn id="84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5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6" dur="25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000"/>
                            </p:stCondLst>
                            <p:childTnLst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27" grpId="0" animBg="1"/>
      <p:bldP spid="28" grpId="0" animBg="1"/>
      <p:bldP spid="29" grpId="0" animBg="1"/>
      <p:bldP spid="30" grpId="0" animBg="1"/>
      <p:bldP spid="30" grpId="1" animBg="1"/>
      <p:bldP spid="30" grpId="2" animBg="1"/>
      <p:bldP spid="31" grpId="0" animBg="1"/>
      <p:bldP spid="31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87DBA2D-1367-D04A-337B-4979FEA6BEDE}"/>
              </a:ext>
            </a:extLst>
          </p:cNvPr>
          <p:cNvSpPr/>
          <p:nvPr/>
        </p:nvSpPr>
        <p:spPr>
          <a:xfrm>
            <a:off x="6563360" y="1351280"/>
            <a:ext cx="5435600" cy="17170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8816AA-9CE5-1E8D-E667-74C513ED8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(Memory Game)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E15E2-DB0E-B931-C2A4-63286B24C6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3x Groups</a:t>
            </a:r>
          </a:p>
          <a:p>
            <a:pPr lvl="1"/>
            <a:r>
              <a:rPr lang="en-US" dirty="0"/>
              <a:t>Groups: Upstairs, Red, Blue</a:t>
            </a:r>
          </a:p>
          <a:p>
            <a:pPr lvl="1"/>
            <a:r>
              <a:rPr lang="en-US" dirty="0"/>
              <a:t>Groups cannot see each other</a:t>
            </a:r>
          </a:p>
          <a:p>
            <a:r>
              <a:rPr lang="en-US" dirty="0"/>
              <a:t>5x Symbols shown</a:t>
            </a:r>
          </a:p>
          <a:p>
            <a:pPr lvl="1"/>
            <a:r>
              <a:rPr lang="en-US" dirty="0"/>
              <a:t>Upstairs &gt; Red &gt; Blue &gt; Upstairs &gt; Red</a:t>
            </a:r>
          </a:p>
          <a:p>
            <a:pPr lvl="1"/>
            <a:r>
              <a:rPr lang="en-US" dirty="0"/>
              <a:t>Each symbol shown for 2s</a:t>
            </a:r>
          </a:p>
          <a:p>
            <a:pPr lvl="1"/>
            <a:r>
              <a:rPr lang="en-US" dirty="0"/>
              <a:t>Communicated outside the game</a:t>
            </a:r>
          </a:p>
          <a:p>
            <a:r>
              <a:rPr lang="en-US" dirty="0"/>
              <a:t>5x players get symbols in each group</a:t>
            </a:r>
          </a:p>
          <a:p>
            <a:pPr lvl="1"/>
            <a:r>
              <a:rPr lang="en-US" dirty="0"/>
              <a:t>7s to line up in the correct order</a:t>
            </a:r>
          </a:p>
          <a:p>
            <a:r>
              <a:rPr lang="en-US" dirty="0"/>
              <a:t>Wrong order = </a:t>
            </a:r>
            <a:r>
              <a:rPr lang="en-US" dirty="0">
                <a:solidFill>
                  <a:srgbClr val="FF0000"/>
                </a:solidFill>
              </a:rPr>
              <a:t>WIPE</a:t>
            </a:r>
          </a:p>
        </p:txBody>
      </p:sp>
      <p:pic>
        <p:nvPicPr>
          <p:cNvPr id="5" name="Picture 2" descr="L'ura (IGC) - NPC - World of Warcraft">
            <a:extLst>
              <a:ext uri="{FF2B5EF4-FFF2-40B4-BE49-F238E27FC236}">
                <a16:creationId xmlns:a16="http://schemas.microsoft.com/office/drawing/2014/main" id="{CCAED212-7E18-EB7F-6FD3-73C97DA7CE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0520" y="1588928"/>
            <a:ext cx="1241743" cy="1241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L'ura (IGC) - NPC - World of Warcraft">
            <a:extLst>
              <a:ext uri="{FF2B5EF4-FFF2-40B4-BE49-F238E27FC236}">
                <a16:creationId xmlns:a16="http://schemas.microsoft.com/office/drawing/2014/main" id="{D3122589-13E3-04EA-73C2-D0182A37E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0520" y="3380422"/>
            <a:ext cx="1241743" cy="1241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'ura (IGC) - NPC - World of Warcraft">
            <a:extLst>
              <a:ext uri="{FF2B5EF4-FFF2-40B4-BE49-F238E27FC236}">
                <a16:creationId xmlns:a16="http://schemas.microsoft.com/office/drawing/2014/main" id="{51147505-FA71-52EC-D528-74984F7BF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0519" y="5195966"/>
            <a:ext cx="1241743" cy="1241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miley Face 10">
            <a:extLst>
              <a:ext uri="{FF2B5EF4-FFF2-40B4-BE49-F238E27FC236}">
                <a16:creationId xmlns:a16="http://schemas.microsoft.com/office/drawing/2014/main" id="{2CD73DBD-735A-3F59-B4D5-9D24AD97E63B}"/>
              </a:ext>
            </a:extLst>
          </p:cNvPr>
          <p:cNvSpPr/>
          <p:nvPr/>
        </p:nvSpPr>
        <p:spPr>
          <a:xfrm>
            <a:off x="11464610" y="199280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iamond 11">
            <a:extLst>
              <a:ext uri="{FF2B5EF4-FFF2-40B4-BE49-F238E27FC236}">
                <a16:creationId xmlns:a16="http://schemas.microsoft.com/office/drawing/2014/main" id="{1B18E68B-0E23-79BB-C23F-A9B0902BF1EE}"/>
              </a:ext>
            </a:extLst>
          </p:cNvPr>
          <p:cNvSpPr/>
          <p:nvPr/>
        </p:nvSpPr>
        <p:spPr>
          <a:xfrm>
            <a:off x="11534264" y="1461750"/>
            <a:ext cx="269404" cy="531050"/>
          </a:xfrm>
          <a:prstGeom prst="diamond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miley Face 12">
            <a:extLst>
              <a:ext uri="{FF2B5EF4-FFF2-40B4-BE49-F238E27FC236}">
                <a16:creationId xmlns:a16="http://schemas.microsoft.com/office/drawing/2014/main" id="{BCFEBB50-304A-B122-4102-2599127FE0BF}"/>
              </a:ext>
            </a:extLst>
          </p:cNvPr>
          <p:cNvSpPr/>
          <p:nvPr/>
        </p:nvSpPr>
        <p:spPr>
          <a:xfrm>
            <a:off x="10993134" y="199280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iamond 13">
            <a:extLst>
              <a:ext uri="{FF2B5EF4-FFF2-40B4-BE49-F238E27FC236}">
                <a16:creationId xmlns:a16="http://schemas.microsoft.com/office/drawing/2014/main" id="{1EC6A0F8-BF0D-42E0-62FD-7B85F9A64D27}"/>
              </a:ext>
            </a:extLst>
          </p:cNvPr>
          <p:cNvSpPr/>
          <p:nvPr/>
        </p:nvSpPr>
        <p:spPr>
          <a:xfrm>
            <a:off x="11062788" y="1461750"/>
            <a:ext cx="269404" cy="531050"/>
          </a:xfrm>
          <a:prstGeom prst="diamond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miley Face 14">
            <a:extLst>
              <a:ext uri="{FF2B5EF4-FFF2-40B4-BE49-F238E27FC236}">
                <a16:creationId xmlns:a16="http://schemas.microsoft.com/office/drawing/2014/main" id="{B95C364C-27B0-F069-0C43-87B171AB8524}"/>
              </a:ext>
            </a:extLst>
          </p:cNvPr>
          <p:cNvSpPr/>
          <p:nvPr/>
        </p:nvSpPr>
        <p:spPr>
          <a:xfrm>
            <a:off x="10513924" y="199280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iamond 15">
            <a:extLst>
              <a:ext uri="{FF2B5EF4-FFF2-40B4-BE49-F238E27FC236}">
                <a16:creationId xmlns:a16="http://schemas.microsoft.com/office/drawing/2014/main" id="{166F4396-594F-5E65-01B3-6FB17D03C91A}"/>
              </a:ext>
            </a:extLst>
          </p:cNvPr>
          <p:cNvSpPr/>
          <p:nvPr/>
        </p:nvSpPr>
        <p:spPr>
          <a:xfrm>
            <a:off x="10583578" y="1461750"/>
            <a:ext cx="269404" cy="531050"/>
          </a:xfrm>
          <a:prstGeom prst="diamond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miley Face 16">
            <a:extLst>
              <a:ext uri="{FF2B5EF4-FFF2-40B4-BE49-F238E27FC236}">
                <a16:creationId xmlns:a16="http://schemas.microsoft.com/office/drawing/2014/main" id="{153DE098-B0C0-FE71-78B7-D45D893B63A8}"/>
              </a:ext>
            </a:extLst>
          </p:cNvPr>
          <p:cNvSpPr/>
          <p:nvPr/>
        </p:nvSpPr>
        <p:spPr>
          <a:xfrm>
            <a:off x="8381927" y="4063735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miley Face 17">
            <a:extLst>
              <a:ext uri="{FF2B5EF4-FFF2-40B4-BE49-F238E27FC236}">
                <a16:creationId xmlns:a16="http://schemas.microsoft.com/office/drawing/2014/main" id="{C5A9B0E0-4911-760B-DC24-F2812F562D4A}"/>
              </a:ext>
            </a:extLst>
          </p:cNvPr>
          <p:cNvSpPr/>
          <p:nvPr/>
        </p:nvSpPr>
        <p:spPr>
          <a:xfrm>
            <a:off x="9125183" y="4063735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miley Face 18">
            <a:extLst>
              <a:ext uri="{FF2B5EF4-FFF2-40B4-BE49-F238E27FC236}">
                <a16:creationId xmlns:a16="http://schemas.microsoft.com/office/drawing/2014/main" id="{A7E4F22D-EFBB-834A-49C8-0DF0F84FD456}"/>
              </a:ext>
            </a:extLst>
          </p:cNvPr>
          <p:cNvSpPr/>
          <p:nvPr/>
        </p:nvSpPr>
        <p:spPr>
          <a:xfrm>
            <a:off x="9868439" y="405446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miley Face 19">
            <a:extLst>
              <a:ext uri="{FF2B5EF4-FFF2-40B4-BE49-F238E27FC236}">
                <a16:creationId xmlns:a16="http://schemas.microsoft.com/office/drawing/2014/main" id="{D2433E5A-366F-E254-5854-5AAA9928477D}"/>
              </a:ext>
            </a:extLst>
          </p:cNvPr>
          <p:cNvSpPr/>
          <p:nvPr/>
        </p:nvSpPr>
        <p:spPr>
          <a:xfrm>
            <a:off x="10611695" y="4054459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miley Face 20">
            <a:extLst>
              <a:ext uri="{FF2B5EF4-FFF2-40B4-BE49-F238E27FC236}">
                <a16:creationId xmlns:a16="http://schemas.microsoft.com/office/drawing/2014/main" id="{9E236BA9-D30F-F4FB-1F26-886B333E5029}"/>
              </a:ext>
            </a:extLst>
          </p:cNvPr>
          <p:cNvSpPr/>
          <p:nvPr/>
        </p:nvSpPr>
        <p:spPr>
          <a:xfrm>
            <a:off x="11354951" y="4063735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miley Face 21">
            <a:extLst>
              <a:ext uri="{FF2B5EF4-FFF2-40B4-BE49-F238E27FC236}">
                <a16:creationId xmlns:a16="http://schemas.microsoft.com/office/drawing/2014/main" id="{521ED6E9-7126-8E1A-92F5-5E1ADE6B726C}"/>
              </a:ext>
            </a:extLst>
          </p:cNvPr>
          <p:cNvSpPr/>
          <p:nvPr/>
        </p:nvSpPr>
        <p:spPr>
          <a:xfrm>
            <a:off x="8381927" y="5822289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Smiley Face 22">
            <a:extLst>
              <a:ext uri="{FF2B5EF4-FFF2-40B4-BE49-F238E27FC236}">
                <a16:creationId xmlns:a16="http://schemas.microsoft.com/office/drawing/2014/main" id="{62C10C94-596A-D8CD-8AD4-357B948FF805}"/>
              </a:ext>
            </a:extLst>
          </p:cNvPr>
          <p:cNvSpPr/>
          <p:nvPr/>
        </p:nvSpPr>
        <p:spPr>
          <a:xfrm>
            <a:off x="9125183" y="5822289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Smiley Face 23">
            <a:extLst>
              <a:ext uri="{FF2B5EF4-FFF2-40B4-BE49-F238E27FC236}">
                <a16:creationId xmlns:a16="http://schemas.microsoft.com/office/drawing/2014/main" id="{61267531-E92C-8021-9601-C6E12763B1F7}"/>
              </a:ext>
            </a:extLst>
          </p:cNvPr>
          <p:cNvSpPr/>
          <p:nvPr/>
        </p:nvSpPr>
        <p:spPr>
          <a:xfrm>
            <a:off x="9868439" y="5813014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miley Face 24">
            <a:extLst>
              <a:ext uri="{FF2B5EF4-FFF2-40B4-BE49-F238E27FC236}">
                <a16:creationId xmlns:a16="http://schemas.microsoft.com/office/drawing/2014/main" id="{314319CB-ED9D-8C38-E8E7-2468CD88257E}"/>
              </a:ext>
            </a:extLst>
          </p:cNvPr>
          <p:cNvSpPr/>
          <p:nvPr/>
        </p:nvSpPr>
        <p:spPr>
          <a:xfrm>
            <a:off x="10611695" y="5813013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miley Face 25">
            <a:extLst>
              <a:ext uri="{FF2B5EF4-FFF2-40B4-BE49-F238E27FC236}">
                <a16:creationId xmlns:a16="http://schemas.microsoft.com/office/drawing/2014/main" id="{D82D59E1-D928-7506-FA31-9A4F8EC5DE7A}"/>
              </a:ext>
            </a:extLst>
          </p:cNvPr>
          <p:cNvSpPr/>
          <p:nvPr/>
        </p:nvSpPr>
        <p:spPr>
          <a:xfrm>
            <a:off x="11354951" y="5822289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Smiley Face 28">
            <a:extLst>
              <a:ext uri="{FF2B5EF4-FFF2-40B4-BE49-F238E27FC236}">
                <a16:creationId xmlns:a16="http://schemas.microsoft.com/office/drawing/2014/main" id="{2F704DCC-F3ED-0B65-367A-51837BCE8225}"/>
              </a:ext>
            </a:extLst>
          </p:cNvPr>
          <p:cNvSpPr/>
          <p:nvPr/>
        </p:nvSpPr>
        <p:spPr>
          <a:xfrm>
            <a:off x="10034714" y="1997007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miley Face 29">
            <a:extLst>
              <a:ext uri="{FF2B5EF4-FFF2-40B4-BE49-F238E27FC236}">
                <a16:creationId xmlns:a16="http://schemas.microsoft.com/office/drawing/2014/main" id="{D59EB718-88F5-AA80-3C24-253955628178}"/>
              </a:ext>
            </a:extLst>
          </p:cNvPr>
          <p:cNvSpPr/>
          <p:nvPr/>
        </p:nvSpPr>
        <p:spPr>
          <a:xfrm>
            <a:off x="9539090" y="1987244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Smiley Face 30">
            <a:extLst>
              <a:ext uri="{FF2B5EF4-FFF2-40B4-BE49-F238E27FC236}">
                <a16:creationId xmlns:a16="http://schemas.microsoft.com/office/drawing/2014/main" id="{5C1F0586-13E5-E73A-6DDC-FFAC7EAE2254}"/>
              </a:ext>
            </a:extLst>
          </p:cNvPr>
          <p:cNvSpPr/>
          <p:nvPr/>
        </p:nvSpPr>
        <p:spPr>
          <a:xfrm>
            <a:off x="11461489" y="2561001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Smiley Face 31">
            <a:extLst>
              <a:ext uri="{FF2B5EF4-FFF2-40B4-BE49-F238E27FC236}">
                <a16:creationId xmlns:a16="http://schemas.microsoft.com/office/drawing/2014/main" id="{D931B35F-4105-17DD-A08F-669F5F4C1508}"/>
              </a:ext>
            </a:extLst>
          </p:cNvPr>
          <p:cNvSpPr/>
          <p:nvPr/>
        </p:nvSpPr>
        <p:spPr>
          <a:xfrm>
            <a:off x="10990013" y="2561001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Smiley Face 32">
            <a:extLst>
              <a:ext uri="{FF2B5EF4-FFF2-40B4-BE49-F238E27FC236}">
                <a16:creationId xmlns:a16="http://schemas.microsoft.com/office/drawing/2014/main" id="{31ECB6F6-1C8D-BE2F-3377-34297F8828DC}"/>
              </a:ext>
            </a:extLst>
          </p:cNvPr>
          <p:cNvSpPr/>
          <p:nvPr/>
        </p:nvSpPr>
        <p:spPr>
          <a:xfrm>
            <a:off x="10510803" y="2561001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Smiley Face 33">
            <a:extLst>
              <a:ext uri="{FF2B5EF4-FFF2-40B4-BE49-F238E27FC236}">
                <a16:creationId xmlns:a16="http://schemas.microsoft.com/office/drawing/2014/main" id="{33948F2C-7E5E-5179-A958-ABB97BE563C5}"/>
              </a:ext>
            </a:extLst>
          </p:cNvPr>
          <p:cNvSpPr/>
          <p:nvPr/>
        </p:nvSpPr>
        <p:spPr>
          <a:xfrm>
            <a:off x="10031593" y="2565208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Smiley Face 34">
            <a:extLst>
              <a:ext uri="{FF2B5EF4-FFF2-40B4-BE49-F238E27FC236}">
                <a16:creationId xmlns:a16="http://schemas.microsoft.com/office/drawing/2014/main" id="{63D94C4A-CBFD-61FD-FC75-C5490B2AF165}"/>
              </a:ext>
            </a:extLst>
          </p:cNvPr>
          <p:cNvSpPr/>
          <p:nvPr/>
        </p:nvSpPr>
        <p:spPr>
          <a:xfrm>
            <a:off x="9535969" y="2555445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7AA981-D93D-7C60-5782-DD37CE5A2F86}"/>
              </a:ext>
            </a:extLst>
          </p:cNvPr>
          <p:cNvSpPr txBox="1"/>
          <p:nvPr/>
        </p:nvSpPr>
        <p:spPr>
          <a:xfrm>
            <a:off x="6568102" y="1357943"/>
            <a:ext cx="1021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Upstairs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8BAA7D7-C4CE-DF9E-F3E6-A956073D69F7}"/>
              </a:ext>
            </a:extLst>
          </p:cNvPr>
          <p:cNvSpPr txBox="1"/>
          <p:nvPr/>
        </p:nvSpPr>
        <p:spPr>
          <a:xfrm>
            <a:off x="6563360" y="3166348"/>
            <a:ext cx="575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6F202F-A744-673E-0631-8DDAD07898EA}"/>
              </a:ext>
            </a:extLst>
          </p:cNvPr>
          <p:cNvSpPr txBox="1"/>
          <p:nvPr/>
        </p:nvSpPr>
        <p:spPr>
          <a:xfrm>
            <a:off x="6563360" y="4962286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Blue</a:t>
            </a:r>
          </a:p>
        </p:txBody>
      </p:sp>
      <p:sp>
        <p:nvSpPr>
          <p:cNvPr id="39" name="Speech Bubble: Oval 38">
            <a:extLst>
              <a:ext uri="{FF2B5EF4-FFF2-40B4-BE49-F238E27FC236}">
                <a16:creationId xmlns:a16="http://schemas.microsoft.com/office/drawing/2014/main" id="{0F1C7F24-64DB-8EE2-B2CE-19542A4E70EF}"/>
              </a:ext>
            </a:extLst>
          </p:cNvPr>
          <p:cNvSpPr/>
          <p:nvPr/>
        </p:nvSpPr>
        <p:spPr>
          <a:xfrm>
            <a:off x="7887715" y="1442610"/>
            <a:ext cx="1241743" cy="599517"/>
          </a:xfrm>
          <a:prstGeom prst="wedgeEllipseCallout">
            <a:avLst>
              <a:gd name="adj1" fmla="val -62035"/>
              <a:gd name="adj2" fmla="val 3344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A!</a:t>
            </a:r>
          </a:p>
        </p:txBody>
      </p:sp>
      <p:sp>
        <p:nvSpPr>
          <p:cNvPr id="41" name="Speech Bubble: Oval 40">
            <a:extLst>
              <a:ext uri="{FF2B5EF4-FFF2-40B4-BE49-F238E27FC236}">
                <a16:creationId xmlns:a16="http://schemas.microsoft.com/office/drawing/2014/main" id="{7ADA4520-5BCF-4E74-69B0-F20E6C9A27DC}"/>
              </a:ext>
            </a:extLst>
          </p:cNvPr>
          <p:cNvSpPr/>
          <p:nvPr/>
        </p:nvSpPr>
        <p:spPr>
          <a:xfrm>
            <a:off x="7887715" y="3307702"/>
            <a:ext cx="1241743" cy="599517"/>
          </a:xfrm>
          <a:prstGeom prst="wedgeEllipseCallout">
            <a:avLst>
              <a:gd name="adj1" fmla="val -62035"/>
              <a:gd name="adj2" fmla="val 3344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B!</a:t>
            </a:r>
          </a:p>
        </p:txBody>
      </p:sp>
      <p:sp>
        <p:nvSpPr>
          <p:cNvPr id="43" name="Speech Bubble: Oval 42">
            <a:extLst>
              <a:ext uri="{FF2B5EF4-FFF2-40B4-BE49-F238E27FC236}">
                <a16:creationId xmlns:a16="http://schemas.microsoft.com/office/drawing/2014/main" id="{C38AE1BA-8AEB-DA9C-E337-1F2D0B05C814}"/>
              </a:ext>
            </a:extLst>
          </p:cNvPr>
          <p:cNvSpPr/>
          <p:nvPr/>
        </p:nvSpPr>
        <p:spPr>
          <a:xfrm>
            <a:off x="7864950" y="5195966"/>
            <a:ext cx="1241743" cy="599517"/>
          </a:xfrm>
          <a:prstGeom prst="wedgeEllipseCallout">
            <a:avLst>
              <a:gd name="adj1" fmla="val -62035"/>
              <a:gd name="adj2" fmla="val 3344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C!</a:t>
            </a:r>
          </a:p>
        </p:txBody>
      </p:sp>
      <p:sp>
        <p:nvSpPr>
          <p:cNvPr id="45" name="Speech Bubble: Oval 44">
            <a:extLst>
              <a:ext uri="{FF2B5EF4-FFF2-40B4-BE49-F238E27FC236}">
                <a16:creationId xmlns:a16="http://schemas.microsoft.com/office/drawing/2014/main" id="{9A3CE810-B311-D3ED-C947-E16A4181138E}"/>
              </a:ext>
            </a:extLst>
          </p:cNvPr>
          <p:cNvSpPr/>
          <p:nvPr/>
        </p:nvSpPr>
        <p:spPr>
          <a:xfrm>
            <a:off x="7914989" y="2224363"/>
            <a:ext cx="1241743" cy="599517"/>
          </a:xfrm>
          <a:prstGeom prst="wedgeEllipseCallout">
            <a:avLst>
              <a:gd name="adj1" fmla="val -64665"/>
              <a:gd name="adj2" fmla="val -373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D!</a:t>
            </a:r>
          </a:p>
        </p:txBody>
      </p:sp>
      <p:sp>
        <p:nvSpPr>
          <p:cNvPr id="46" name="Speech Bubble: Oval 45">
            <a:extLst>
              <a:ext uri="{FF2B5EF4-FFF2-40B4-BE49-F238E27FC236}">
                <a16:creationId xmlns:a16="http://schemas.microsoft.com/office/drawing/2014/main" id="{DA091E41-8401-79F8-7144-019272D1A0CD}"/>
              </a:ext>
            </a:extLst>
          </p:cNvPr>
          <p:cNvSpPr/>
          <p:nvPr/>
        </p:nvSpPr>
        <p:spPr>
          <a:xfrm>
            <a:off x="7887715" y="4114486"/>
            <a:ext cx="1241743" cy="599517"/>
          </a:xfrm>
          <a:prstGeom prst="wedgeEllipseCallout">
            <a:avLst>
              <a:gd name="adj1" fmla="val -64665"/>
              <a:gd name="adj2" fmla="val -373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E!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95CAEC4-61DE-D25B-E8BF-60B2E98F368D}"/>
              </a:ext>
            </a:extLst>
          </p:cNvPr>
          <p:cNvSpPr/>
          <p:nvPr/>
        </p:nvSpPr>
        <p:spPr>
          <a:xfrm>
            <a:off x="11438850" y="2534285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8ED626E-4D21-BE3F-B59B-22DADA72C3EE}"/>
              </a:ext>
            </a:extLst>
          </p:cNvPr>
          <p:cNvSpPr/>
          <p:nvPr/>
        </p:nvSpPr>
        <p:spPr>
          <a:xfrm>
            <a:off x="10969413" y="2534285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3298B02-BEF1-B204-72A0-66186A7CC8AC}"/>
              </a:ext>
            </a:extLst>
          </p:cNvPr>
          <p:cNvSpPr/>
          <p:nvPr/>
        </p:nvSpPr>
        <p:spPr>
          <a:xfrm>
            <a:off x="10491285" y="1947523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E11CF90-6880-7AD9-B99B-7B6BD34BEFED}"/>
              </a:ext>
            </a:extLst>
          </p:cNvPr>
          <p:cNvSpPr/>
          <p:nvPr/>
        </p:nvSpPr>
        <p:spPr>
          <a:xfrm>
            <a:off x="11456877" y="1983128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28C97A9-C422-C6AE-1BDD-8F7151C19422}"/>
              </a:ext>
            </a:extLst>
          </p:cNvPr>
          <p:cNvSpPr/>
          <p:nvPr/>
        </p:nvSpPr>
        <p:spPr>
          <a:xfrm>
            <a:off x="10007717" y="2542569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3086472-F334-950B-70B8-5F8AA8246DCE}"/>
              </a:ext>
            </a:extLst>
          </p:cNvPr>
          <p:cNvSpPr/>
          <p:nvPr/>
        </p:nvSpPr>
        <p:spPr>
          <a:xfrm>
            <a:off x="11313974" y="4041096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CA8ACCCA-52D3-8AEE-1971-9C4B043207DC}"/>
              </a:ext>
            </a:extLst>
          </p:cNvPr>
          <p:cNvSpPr/>
          <p:nvPr/>
        </p:nvSpPr>
        <p:spPr>
          <a:xfrm>
            <a:off x="10589056" y="4018458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3AA7200-4898-128F-E717-9C2E92C73710}"/>
              </a:ext>
            </a:extLst>
          </p:cNvPr>
          <p:cNvSpPr/>
          <p:nvPr/>
        </p:nvSpPr>
        <p:spPr>
          <a:xfrm>
            <a:off x="9845800" y="4031820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E5D6375-00A9-3BB2-AE04-444821F59CB3}"/>
              </a:ext>
            </a:extLst>
          </p:cNvPr>
          <p:cNvSpPr/>
          <p:nvPr/>
        </p:nvSpPr>
        <p:spPr>
          <a:xfrm>
            <a:off x="9074767" y="4024868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26BB2EE-C627-FAE1-7A9E-21210C51482E}"/>
              </a:ext>
            </a:extLst>
          </p:cNvPr>
          <p:cNvSpPr/>
          <p:nvPr/>
        </p:nvSpPr>
        <p:spPr>
          <a:xfrm>
            <a:off x="8358317" y="4016458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99D9DCD1-FC5B-2B5F-E101-95107F369D75}"/>
              </a:ext>
            </a:extLst>
          </p:cNvPr>
          <p:cNvSpPr/>
          <p:nvPr/>
        </p:nvSpPr>
        <p:spPr>
          <a:xfrm>
            <a:off x="8358317" y="5767736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6E60009F-2659-D0AA-FBE2-613574868C0E}"/>
              </a:ext>
            </a:extLst>
          </p:cNvPr>
          <p:cNvSpPr/>
          <p:nvPr/>
        </p:nvSpPr>
        <p:spPr>
          <a:xfrm>
            <a:off x="9105873" y="5799650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F448FA4-BCE4-128A-221A-A063B9238542}"/>
              </a:ext>
            </a:extLst>
          </p:cNvPr>
          <p:cNvSpPr/>
          <p:nvPr/>
        </p:nvSpPr>
        <p:spPr>
          <a:xfrm>
            <a:off x="9837601" y="5777012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93268F8-08B5-58A5-EBB4-A3CF980029B1}"/>
              </a:ext>
            </a:extLst>
          </p:cNvPr>
          <p:cNvSpPr/>
          <p:nvPr/>
        </p:nvSpPr>
        <p:spPr>
          <a:xfrm>
            <a:off x="10577664" y="5779488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8C1BCCB-D9F8-13D0-0DE2-342B4C068FEA}"/>
              </a:ext>
            </a:extLst>
          </p:cNvPr>
          <p:cNvSpPr/>
          <p:nvPr/>
        </p:nvSpPr>
        <p:spPr>
          <a:xfrm>
            <a:off x="11313974" y="5790374"/>
            <a:ext cx="444670" cy="4446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1C3FFA4E-136F-03A4-F9A9-0FF084CC1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202" y="3719913"/>
            <a:ext cx="719795" cy="622045"/>
          </a:xfrm>
          <a:prstGeom prst="rect">
            <a:avLst/>
          </a:prstGeom>
        </p:spPr>
      </p:pic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C1894D4-9CF9-0893-02F3-BF400ED4923C}"/>
              </a:ext>
            </a:extLst>
          </p:cNvPr>
          <p:cNvCxnSpPr>
            <a:stCxn id="6" idx="1"/>
            <a:endCxn id="64" idx="0"/>
          </p:cNvCxnSpPr>
          <p:nvPr/>
        </p:nvCxnSpPr>
        <p:spPr>
          <a:xfrm flipH="1">
            <a:off x="5877100" y="2209800"/>
            <a:ext cx="686260" cy="1510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C84A21C-1C69-8F9B-EE96-8981629000B6}"/>
              </a:ext>
            </a:extLst>
          </p:cNvPr>
          <p:cNvCxnSpPr>
            <a:stCxn id="8" idx="1"/>
            <a:endCxn id="64" idx="2"/>
          </p:cNvCxnSpPr>
          <p:nvPr/>
        </p:nvCxnSpPr>
        <p:spPr>
          <a:xfrm flipH="1" flipV="1">
            <a:off x="5877100" y="4341958"/>
            <a:ext cx="683078" cy="14812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F9A0D3D-CC13-DF0B-5B93-35320927214F}"/>
              </a:ext>
            </a:extLst>
          </p:cNvPr>
          <p:cNvCxnSpPr>
            <a:stCxn id="7" idx="1"/>
            <a:endCxn id="64" idx="3"/>
          </p:cNvCxnSpPr>
          <p:nvPr/>
        </p:nvCxnSpPr>
        <p:spPr>
          <a:xfrm flipH="1">
            <a:off x="6236997" y="4018170"/>
            <a:ext cx="326363" cy="12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09F63B1-56B9-CFA9-68C6-B1E65FD93E93}"/>
              </a:ext>
            </a:extLst>
          </p:cNvPr>
          <p:cNvSpPr/>
          <p:nvPr/>
        </p:nvSpPr>
        <p:spPr>
          <a:xfrm>
            <a:off x="6563360" y="3159650"/>
            <a:ext cx="5435600" cy="1717040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77E582-A9DD-D836-9CE1-EEDFF536A0DF}"/>
              </a:ext>
            </a:extLst>
          </p:cNvPr>
          <p:cNvSpPr/>
          <p:nvPr/>
        </p:nvSpPr>
        <p:spPr>
          <a:xfrm>
            <a:off x="6560178" y="4964650"/>
            <a:ext cx="5435600" cy="1717040"/>
          </a:xfrm>
          <a:prstGeom prst="rect">
            <a:avLst/>
          </a:prstGeom>
          <a:solidFill>
            <a:srgbClr val="0070C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5" name="Picture 4">
            <a:extLst>
              <a:ext uri="{FF2B5EF4-FFF2-40B4-BE49-F238E27FC236}">
                <a16:creationId xmlns:a16="http://schemas.microsoft.com/office/drawing/2014/main" id="{C5EFD7D5-349A-6605-D894-E0B387A2A5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657" b="37886"/>
          <a:stretch>
            <a:fillRect/>
          </a:stretch>
        </p:blipFill>
        <p:spPr bwMode="auto">
          <a:xfrm>
            <a:off x="5687876" y="3652244"/>
            <a:ext cx="6307902" cy="690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8" name="Rectangle 87">
            <a:extLst>
              <a:ext uri="{FF2B5EF4-FFF2-40B4-BE49-F238E27FC236}">
                <a16:creationId xmlns:a16="http://schemas.microsoft.com/office/drawing/2014/main" id="{4EBB2896-E66D-FBC5-6A44-5F1E87349549}"/>
              </a:ext>
            </a:extLst>
          </p:cNvPr>
          <p:cNvSpPr/>
          <p:nvPr/>
        </p:nvSpPr>
        <p:spPr>
          <a:xfrm>
            <a:off x="10448437" y="5544046"/>
            <a:ext cx="1419431" cy="955878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Multiplication Sign 88">
            <a:extLst>
              <a:ext uri="{FF2B5EF4-FFF2-40B4-BE49-F238E27FC236}">
                <a16:creationId xmlns:a16="http://schemas.microsoft.com/office/drawing/2014/main" id="{418C8C37-BFF6-54B7-C8E0-0898FBAF101B}"/>
              </a:ext>
            </a:extLst>
          </p:cNvPr>
          <p:cNvSpPr/>
          <p:nvPr/>
        </p:nvSpPr>
        <p:spPr>
          <a:xfrm>
            <a:off x="8313283" y="5721271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Multiplication Sign 89">
            <a:extLst>
              <a:ext uri="{FF2B5EF4-FFF2-40B4-BE49-F238E27FC236}">
                <a16:creationId xmlns:a16="http://schemas.microsoft.com/office/drawing/2014/main" id="{EF59DD86-3715-AFEB-3A9E-2177B3BC7536}"/>
              </a:ext>
            </a:extLst>
          </p:cNvPr>
          <p:cNvSpPr/>
          <p:nvPr/>
        </p:nvSpPr>
        <p:spPr>
          <a:xfrm>
            <a:off x="9060691" y="5759568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Multiplication Sign 90">
            <a:extLst>
              <a:ext uri="{FF2B5EF4-FFF2-40B4-BE49-F238E27FC236}">
                <a16:creationId xmlns:a16="http://schemas.microsoft.com/office/drawing/2014/main" id="{6E6D9536-DAAB-5485-CA6F-92A9191F0C59}"/>
              </a:ext>
            </a:extLst>
          </p:cNvPr>
          <p:cNvSpPr/>
          <p:nvPr/>
        </p:nvSpPr>
        <p:spPr>
          <a:xfrm>
            <a:off x="9725122" y="5730035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Multiplication Sign 91">
            <a:extLst>
              <a:ext uri="{FF2B5EF4-FFF2-40B4-BE49-F238E27FC236}">
                <a16:creationId xmlns:a16="http://schemas.microsoft.com/office/drawing/2014/main" id="{4366B18F-3E9A-2A84-CEEE-90BD3900CE62}"/>
              </a:ext>
            </a:extLst>
          </p:cNvPr>
          <p:cNvSpPr/>
          <p:nvPr/>
        </p:nvSpPr>
        <p:spPr>
          <a:xfrm>
            <a:off x="10493352" y="5721997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Multiplication Sign 92">
            <a:extLst>
              <a:ext uri="{FF2B5EF4-FFF2-40B4-BE49-F238E27FC236}">
                <a16:creationId xmlns:a16="http://schemas.microsoft.com/office/drawing/2014/main" id="{165124B5-C026-B1F9-8ADB-DA860FCF4625}"/>
              </a:ext>
            </a:extLst>
          </p:cNvPr>
          <p:cNvSpPr/>
          <p:nvPr/>
        </p:nvSpPr>
        <p:spPr>
          <a:xfrm>
            <a:off x="11238320" y="5730035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01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300"/>
                            </p:stCondLst>
                            <p:childTnLst>
                              <p:par>
                                <p:cTn id="13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600"/>
                            </p:stCondLst>
                            <p:childTnLst>
                              <p:par>
                                <p:cTn id="1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900"/>
                            </p:stCondLst>
                            <p:childTnLst>
                              <p:par>
                                <p:cTn id="1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200"/>
                            </p:stCondLst>
                            <p:childTnLst>
                              <p:par>
                                <p:cTn id="1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1500"/>
                            </p:stCondLst>
                            <p:childTnLst>
                              <p:par>
                                <p:cTn id="153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1800"/>
                            </p:stCondLst>
                            <p:childTnLst>
                              <p:par>
                                <p:cTn id="1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2100"/>
                            </p:stCondLst>
                            <p:childTnLst>
                              <p:par>
                                <p:cTn id="161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2400"/>
                            </p:stCondLst>
                            <p:childTnLst>
                              <p:par>
                                <p:cTn id="1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2700"/>
                            </p:stCondLst>
                            <p:childTnLst>
                              <p:par>
                                <p:cTn id="16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500"/>
                            </p:stCondLst>
                            <p:childTnLst>
                              <p:par>
                                <p:cTn id="19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6" fill="hold">
                      <p:stCondLst>
                        <p:cond delay="indefinite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1" fill="hold">
                      <p:stCondLst>
                        <p:cond delay="indefinite"/>
                      </p:stCondLst>
                      <p:childTnLst>
                        <p:par>
                          <p:cTn id="262" fill="hold">
                            <p:stCondLst>
                              <p:cond delay="0"/>
                            </p:stCondLst>
                            <p:childTnLst>
                              <p:par>
                                <p:cTn id="263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4.07407E-6 L -0.16719 -0.0669 " pathEditMode="relative" rAng="0" ptsTypes="AA">
                                      <p:cBhvr>
                                        <p:cTn id="26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359" y="-3356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1.85185E-6 L -0.16758 -0.06342 " pathEditMode="relative" rAng="0" ptsTypes="AA">
                                      <p:cBhvr>
                                        <p:cTn id="26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385" y="-3171"/>
                                    </p:animMotion>
                                  </p:childTnLst>
                                </p:cTn>
                              </p:par>
                              <p:par>
                                <p:cTn id="267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4.81481E-6 L -0.1681 -0.06366 " pathEditMode="relative" rAng="0" ptsTypes="AA">
                                      <p:cBhvr>
                                        <p:cTn id="268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11" y="-3194"/>
                                    </p:animMotion>
                                  </p:childTnLst>
                                </p:cTn>
                              </p:par>
                              <p:par>
                                <p:cTn id="269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3.7037E-6 L -0.1888 -0.14977 " pathEditMode="relative" rAng="0" ptsTypes="AA">
                                      <p:cBhvr>
                                        <p:cTn id="270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440" y="-7500"/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1.85185E-6 L -0.18893 -0.14907 " pathEditMode="relative" rAng="0" ptsTypes="AA">
                                      <p:cBhvr>
                                        <p:cTn id="272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453" y="-7454"/>
                                    </p:animMotion>
                                  </p:childTnLst>
                                </p:cTn>
                              </p:par>
                              <p:par>
                                <p:cTn id="273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4.07407E-6 L -0.13385 -0.06482 " pathEditMode="relative" rAng="0" ptsTypes="AA">
                                      <p:cBhvr>
                                        <p:cTn id="27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693" y="-3241"/>
                                    </p:animMotion>
                                  </p:childTnLst>
                                </p:cTn>
                              </p:par>
                              <p:par>
                                <p:cTn id="275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1.85185E-6 L -0.13424 -0.06921 " pathEditMode="relative" rAng="0" ptsTypes="AA">
                                      <p:cBhvr>
                                        <p:cTn id="27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719" y="-3472"/>
                                    </p:animMotion>
                                  </p:childTnLst>
                                </p:cTn>
                              </p:par>
                              <p:par>
                                <p:cTn id="277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2.22222E-6 L -0.13515 -0.06482 " pathEditMode="relative" rAng="0" ptsTypes="AA">
                                      <p:cBhvr>
                                        <p:cTn id="278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758" y="-3241"/>
                                    </p:animMotion>
                                  </p:childTnLst>
                                </p:cTn>
                              </p:par>
                              <p:par>
                                <p:cTn id="279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7.40741E-7 L 0.03998 -0.15116 " pathEditMode="relative" rAng="0" ptsTypes="AA">
                                      <p:cBhvr>
                                        <p:cTn id="280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92" y="-7569"/>
                                    </p:animMotion>
                                  </p:childTnLst>
                                </p:cTn>
                              </p:par>
                              <p:par>
                                <p:cTn id="28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7.40741E-7 L 0.04011 -0.15139 " pathEditMode="relative" rAng="0" ptsTypes="AA">
                                      <p:cBhvr>
                                        <p:cTn id="282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18" y="-7593"/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7037E-6 L 0.03932 -0.1507 " pathEditMode="relative" rAng="0" ptsTypes="AA">
                                      <p:cBhvr>
                                        <p:cTn id="284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66" y="-7546"/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1.85185E-6 L 0.03906 -0.15 " pathEditMode="relative" rAng="0" ptsTypes="AA">
                                      <p:cBhvr>
                                        <p:cTn id="286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66" y="-7569"/>
                                    </p:animMotion>
                                  </p:childTnLst>
                                </p:cTn>
                              </p:par>
                              <p:par>
                                <p:cTn id="28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2.22222E-6 L -0.18763 -0.00162 " pathEditMode="relative" rAng="0" ptsTypes="AA">
                                      <p:cBhvr>
                                        <p:cTn id="28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388" y="-93"/>
                                    </p:animMotion>
                                  </p:childTnLst>
                                </p:cTn>
                              </p:par>
                              <p:par>
                                <p:cTn id="28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7.40741E-7 L -0.18619 -0.00185 " pathEditMode="relative" rAng="0" ptsTypes="AA">
                                      <p:cBhvr>
                                        <p:cTn id="290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310" y="-93"/>
                                    </p:animMotion>
                                  </p:childTnLst>
                                </p:cTn>
                              </p:par>
                              <p:par>
                                <p:cTn id="291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2.22222E-6 L 0.18282 2.22222E-6 " pathEditMode="relative" rAng="0" ptsTypes="AA">
                                      <p:cBhvr>
                                        <p:cTn id="292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41" y="0"/>
                                    </p:animMotion>
                                  </p:childTnLst>
                                </p:cTn>
                              </p:par>
                              <p:par>
                                <p:cTn id="293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2.96296E-6 L 0.18515 0.00232 " pathEditMode="relative" rAng="0" ptsTypes="AA">
                                      <p:cBhvr>
                                        <p:cTn id="294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80" y="23"/>
                                    </p:animMotion>
                                  </p:childTnLst>
                                </p:cTn>
                              </p:par>
                              <p:par>
                                <p:cTn id="295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3.7037E-7 L -0.125 -0.00694 " pathEditMode="relative" rAng="0" ptsTypes="AA">
                                      <p:cBhvr>
                                        <p:cTn id="29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250" y="-347"/>
                                    </p:animMotion>
                                  </p:childTnLst>
                                </p:cTn>
                              </p:par>
                              <p:par>
                                <p:cTn id="297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1.48148E-6 L -0.12435 -0.00208 " pathEditMode="relative" rAng="0" ptsTypes="AA">
                                      <p:cBhvr>
                                        <p:cTn id="298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224" y="-116"/>
                                    </p:animMotion>
                                  </p:childTnLst>
                                </p:cTn>
                              </p:par>
                              <p:par>
                                <p:cTn id="299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3.7037E-7 L -0.06094 -3.7037E-7 " pathEditMode="relative" rAng="0" ptsTypes="AA">
                                      <p:cBhvr>
                                        <p:cTn id="300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47" y="0"/>
                                    </p:animMotion>
                                  </p:childTnLst>
                                </p:cTn>
                              </p:par>
                              <p:par>
                                <p:cTn id="301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-0.06003 0.00139 " pathEditMode="relative" rAng="0" ptsTypes="AA">
                                      <p:cBhvr>
                                        <p:cTn id="302" dur="2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08" y="69"/>
                                    </p:animMotion>
                                  </p:childTnLst>
                                </p:cTn>
                              </p:par>
                              <p:par>
                                <p:cTn id="303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7.40741E-7 L -0.06094 -0.00139 " pathEditMode="relative" rAng="0" ptsTypes="AA">
                                      <p:cBhvr>
                                        <p:cTn id="304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78" y="-46"/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3.7037E-7 L -3.75E-6 3.7037E-7 " pathEditMode="relative" rAng="0" ptsTypes="AA">
                                      <p:cBhvr>
                                        <p:cTn id="306" dur="2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162"/>
                                    </p:animMotion>
                                  </p:childTnLst>
                                </p:cTn>
                              </p:par>
                              <p:par>
                                <p:cTn id="307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7.40741E-7 L 0.24375 7.40741E-7 " pathEditMode="relative" rAng="0" ptsTypes="AA">
                                      <p:cBhvr>
                                        <p:cTn id="308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188" y="0"/>
                                    </p:animMotion>
                                  </p:childTnLst>
                                </p:cTn>
                              </p:par>
                              <p:par>
                                <p:cTn id="309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 -0.0037 L 0.18295 0.00324 " pathEditMode="relative" rAng="0" ptsTypes="AA">
                                      <p:cBhvr>
                                        <p:cTn id="310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206" y="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1" fill="hold">
                      <p:stCondLst>
                        <p:cond delay="indefinite"/>
                      </p:stCondLst>
                      <p:childTnLst>
                        <p:par>
                          <p:cTn id="312" fill="hold">
                            <p:stCondLst>
                              <p:cond delay="0"/>
                            </p:stCondLst>
                            <p:childTnLst>
                              <p:par>
                                <p:cTn id="3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9" fill="hold">
                            <p:stCondLst>
                              <p:cond delay="500"/>
                            </p:stCondLst>
                            <p:childTnLst>
                              <p:par>
                                <p:cTn id="320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1" dur="500" tmFilter="0, 0; .2, .5; .8, .5; 1, 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2" dur="250" autoRev="1" fill="hold"/>
                                        <p:tgtEl>
                                          <p:spTgt spid="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3" fill="hold">
                            <p:stCondLst>
                              <p:cond delay="1000"/>
                            </p:stCondLst>
                            <p:childTnLst>
                              <p:par>
                                <p:cTn id="3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1" grpId="0" animBg="1"/>
      <p:bldP spid="11" grpId="1" animBg="1"/>
      <p:bldP spid="12" grpId="0" animBg="1"/>
      <p:bldP spid="12" grpId="1" animBg="1"/>
      <p:bldP spid="13" grpId="0" animBg="1"/>
      <p:bldP spid="14" grpId="0" animBg="1"/>
      <p:bldP spid="15" grpId="0" animBg="1"/>
      <p:bldP spid="15" grpId="1" animBg="1"/>
      <p:bldP spid="16" grpId="0" animBg="1"/>
      <p:bldP spid="16" grpId="1" animBg="1"/>
      <p:bldP spid="17" grpId="0" animBg="1"/>
      <p:bldP spid="18" grpId="0" animBg="1"/>
      <p:bldP spid="18" grpId="1" animBg="1"/>
      <p:bldP spid="19" grpId="0" animBg="1"/>
      <p:bldP spid="20" grpId="0" animBg="1"/>
      <p:bldP spid="21" grpId="0" animBg="1"/>
      <p:bldP spid="21" grpId="1" animBg="1"/>
      <p:bldP spid="22" grpId="0" animBg="1"/>
      <p:bldP spid="22" grpId="1" animBg="1"/>
      <p:bldP spid="23" grpId="0" animBg="1"/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9" grpId="0" animBg="1"/>
      <p:bldP spid="30" grpId="0" animBg="1"/>
      <p:bldP spid="31" grpId="0" animBg="1"/>
      <p:bldP spid="31" grpId="1" animBg="1"/>
      <p:bldP spid="32" grpId="0" animBg="1"/>
      <p:bldP spid="32" grpId="1" animBg="1"/>
      <p:bldP spid="33" grpId="0" animBg="1"/>
      <p:bldP spid="34" grpId="0" animBg="1"/>
      <p:bldP spid="34" grpId="1" animBg="1"/>
      <p:bldP spid="35" grpId="0" animBg="1"/>
      <p:bldP spid="36" grpId="0"/>
      <p:bldP spid="37" grpId="0"/>
      <p:bldP spid="38" grpId="0"/>
      <p:bldP spid="39" grpId="0" animBg="1"/>
      <p:bldP spid="39" grpId="1" animBg="1"/>
      <p:bldP spid="41" grpId="0" animBg="1"/>
      <p:bldP spid="41" grpId="1" animBg="1"/>
      <p:bldP spid="43" grpId="0" animBg="1"/>
      <p:bldP spid="43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4" grpId="0" animBg="1"/>
      <p:bldP spid="55" grpId="0" animBg="1"/>
      <p:bldP spid="55" grpId="1" animBg="1"/>
      <p:bldP spid="56" grpId="0" animBg="1"/>
      <p:bldP spid="57" grpId="0" animBg="1"/>
      <p:bldP spid="57" grpId="1" animBg="1"/>
      <p:bldP spid="58" grpId="0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7" grpId="0" animBg="1"/>
      <p:bldP spid="8" grpId="0" animBg="1"/>
      <p:bldP spid="88" grpId="0" animBg="1"/>
      <p:bldP spid="88" grpId="1" animBg="1"/>
      <p:bldP spid="89" grpId="0" animBg="1"/>
      <p:bldP spid="90" grpId="0" animBg="1"/>
      <p:bldP spid="91" grpId="0" animBg="1"/>
      <p:bldP spid="92" grpId="0" animBg="1"/>
      <p:bldP spid="9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7ED09F02-2CE0-D8E9-4C0A-AB8C9AF0E0F2}"/>
              </a:ext>
            </a:extLst>
          </p:cNvPr>
          <p:cNvSpPr/>
          <p:nvPr/>
        </p:nvSpPr>
        <p:spPr>
          <a:xfrm>
            <a:off x="8140383" y="2896235"/>
            <a:ext cx="1696720" cy="16967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 descr="L'ura (IGC) - NPC - World of Warcraft">
            <a:extLst>
              <a:ext uri="{FF2B5EF4-FFF2-40B4-BE49-F238E27FC236}">
                <a16:creationId xmlns:a16="http://schemas.microsoft.com/office/drawing/2014/main" id="{30D74F90-8349-CC82-C413-BDF493634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3720" y="4619941"/>
            <a:ext cx="1241743" cy="1241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EB3A0-86CA-364D-4891-55776C47D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Transition (03:06 – 03:10)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751DD-5D11-69E3-E8F4-68DA8AFF0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Boss is un-targetable</a:t>
            </a:r>
          </a:p>
          <a:p>
            <a:r>
              <a:rPr lang="en-US" dirty="0"/>
              <a:t>Go to assigned positions</a:t>
            </a:r>
          </a:p>
          <a:p>
            <a:r>
              <a:rPr lang="en-US" dirty="0"/>
              <a:t>Slight pull towards boss</a:t>
            </a:r>
          </a:p>
          <a:p>
            <a:pPr lvl="1"/>
            <a:r>
              <a:rPr lang="en-US" dirty="0"/>
              <a:t>Pulled into center = DEAD</a:t>
            </a:r>
          </a:p>
          <a:p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506ED1A-52E3-B15F-4E98-15D1D4812A96}"/>
              </a:ext>
            </a:extLst>
          </p:cNvPr>
          <p:cNvSpPr/>
          <p:nvPr/>
        </p:nvSpPr>
        <p:spPr>
          <a:xfrm>
            <a:off x="6187440" y="996315"/>
            <a:ext cx="5496560" cy="549656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miley Face 4">
            <a:extLst>
              <a:ext uri="{FF2B5EF4-FFF2-40B4-BE49-F238E27FC236}">
                <a16:creationId xmlns:a16="http://schemas.microsoft.com/office/drawing/2014/main" id="{7A554E60-9839-B40C-1DEE-E50868C3F322}"/>
              </a:ext>
            </a:extLst>
          </p:cNvPr>
          <p:cNvSpPr/>
          <p:nvPr/>
        </p:nvSpPr>
        <p:spPr>
          <a:xfrm>
            <a:off x="8052609" y="5661988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miley Face 6">
            <a:extLst>
              <a:ext uri="{FF2B5EF4-FFF2-40B4-BE49-F238E27FC236}">
                <a16:creationId xmlns:a16="http://schemas.microsoft.com/office/drawing/2014/main" id="{968FD7C1-F8EC-FA70-E0F7-6154338AAF05}"/>
              </a:ext>
            </a:extLst>
          </p:cNvPr>
          <p:cNvSpPr/>
          <p:nvPr/>
        </p:nvSpPr>
        <p:spPr>
          <a:xfrm>
            <a:off x="8594894" y="5677722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miley Face 7">
            <a:extLst>
              <a:ext uri="{FF2B5EF4-FFF2-40B4-BE49-F238E27FC236}">
                <a16:creationId xmlns:a16="http://schemas.microsoft.com/office/drawing/2014/main" id="{81883938-E0A4-6FAD-445E-BF5ACBEE76E7}"/>
              </a:ext>
            </a:extLst>
          </p:cNvPr>
          <p:cNvSpPr/>
          <p:nvPr/>
        </p:nvSpPr>
        <p:spPr>
          <a:xfrm>
            <a:off x="8052608" y="5127658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2B8E52-37B0-49E1-64E0-DFBD3A259A4D}"/>
              </a:ext>
            </a:extLst>
          </p:cNvPr>
          <p:cNvSpPr txBox="1"/>
          <p:nvPr/>
        </p:nvSpPr>
        <p:spPr>
          <a:xfrm>
            <a:off x="3616960" y="4619941"/>
            <a:ext cx="1794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NOT TOUCH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6D9338D-B421-39A3-1712-34EDA3D24B7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411297" y="3744595"/>
            <a:ext cx="2950383" cy="1060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35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9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3.7037E-7 L 0.01641 -0.2294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20" y="-11481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4.44444E-6 L 0.14362 -0.09699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174" y="-4861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3.7037E-7 L 0.06094 -0.54954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47" y="-27477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1.85185E-6 L -0.08763 -0.12291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88" y="-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7" grpId="0" animBg="1"/>
      <p:bldP spid="7" grpId="1" animBg="1"/>
      <p:bldP spid="8" grpId="0" animBg="1"/>
      <p:bldP spid="8" grpId="1" animBg="1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36E28-C651-4C9C-A3D2-4035A9065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Intermission (03:10 – 03:40)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209A4-B05E-8247-18B3-C5C0F9154E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Important Mechanics</a:t>
            </a:r>
          </a:p>
          <a:p>
            <a:r>
              <a:rPr lang="en-US" dirty="0" err="1"/>
              <a:t>Starsplinters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4141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F9203-4F13-E880-A9B3-AD5AA02D2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tar: 6 Points 14">
            <a:extLst>
              <a:ext uri="{FF2B5EF4-FFF2-40B4-BE49-F238E27FC236}">
                <a16:creationId xmlns:a16="http://schemas.microsoft.com/office/drawing/2014/main" id="{C44C3AAB-91FB-A028-3051-80DABC9DB35B}"/>
              </a:ext>
            </a:extLst>
          </p:cNvPr>
          <p:cNvSpPr/>
          <p:nvPr/>
        </p:nvSpPr>
        <p:spPr>
          <a:xfrm>
            <a:off x="8578595" y="1656934"/>
            <a:ext cx="1098090" cy="1098090"/>
          </a:xfrm>
          <a:prstGeom prst="star6">
            <a:avLst>
              <a:gd name="adj" fmla="val 5947"/>
              <a:gd name="hf" fmla="val 11547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tar: 6 Points 13">
            <a:extLst>
              <a:ext uri="{FF2B5EF4-FFF2-40B4-BE49-F238E27FC236}">
                <a16:creationId xmlns:a16="http://schemas.microsoft.com/office/drawing/2014/main" id="{B5EE1A23-0083-89FF-2D7A-2AD451704446}"/>
              </a:ext>
            </a:extLst>
          </p:cNvPr>
          <p:cNvSpPr/>
          <p:nvPr/>
        </p:nvSpPr>
        <p:spPr>
          <a:xfrm>
            <a:off x="9967820" y="4698453"/>
            <a:ext cx="1098090" cy="1098090"/>
          </a:xfrm>
          <a:prstGeom prst="star6">
            <a:avLst>
              <a:gd name="adj" fmla="val 5947"/>
              <a:gd name="hf" fmla="val 11547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tar: 6 Points 12">
            <a:extLst>
              <a:ext uri="{FF2B5EF4-FFF2-40B4-BE49-F238E27FC236}">
                <a16:creationId xmlns:a16="http://schemas.microsoft.com/office/drawing/2014/main" id="{66D5111F-3A03-B2E3-0585-B0E00452BB74}"/>
              </a:ext>
            </a:extLst>
          </p:cNvPr>
          <p:cNvSpPr/>
          <p:nvPr/>
        </p:nvSpPr>
        <p:spPr>
          <a:xfrm>
            <a:off x="6662081" y="3916768"/>
            <a:ext cx="1098090" cy="1098090"/>
          </a:xfrm>
          <a:prstGeom prst="star6">
            <a:avLst>
              <a:gd name="adj" fmla="val 5947"/>
              <a:gd name="hf" fmla="val 11547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1D08E4-17E3-E9C4-DAAE-6F179FE4C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Intermission (</a:t>
            </a:r>
            <a:r>
              <a:rPr lang="en-US" dirty="0" err="1"/>
              <a:t>Starsplinters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A8051-949C-8185-800B-325811CB70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Starplinters</a:t>
            </a:r>
            <a:r>
              <a:rPr lang="en-US" dirty="0"/>
              <a:t> every 5s</a:t>
            </a:r>
          </a:p>
          <a:p>
            <a:pPr lvl="1"/>
            <a:r>
              <a:rPr lang="en-US" dirty="0"/>
              <a:t>Total 6x</a:t>
            </a:r>
          </a:p>
          <a:p>
            <a:r>
              <a:rPr lang="en-US" dirty="0"/>
              <a:t>First 5: Random players</a:t>
            </a:r>
          </a:p>
          <a:p>
            <a:r>
              <a:rPr lang="en-US" dirty="0"/>
              <a:t>Last 1: Everybody </a:t>
            </a:r>
          </a:p>
        </p:txBody>
      </p:sp>
      <p:pic>
        <p:nvPicPr>
          <p:cNvPr id="6" name="Picture 2" descr="L'ura (IGC) - NPC - World of Warcraft">
            <a:extLst>
              <a:ext uri="{FF2B5EF4-FFF2-40B4-BE49-F238E27FC236}">
                <a16:creationId xmlns:a16="http://schemas.microsoft.com/office/drawing/2014/main" id="{8BA5904B-1155-12AC-7884-959198848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7871" y="3123723"/>
            <a:ext cx="1241743" cy="1241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718FF794-D6FF-5045-C5B6-2F22162E6CCA}"/>
              </a:ext>
            </a:extLst>
          </p:cNvPr>
          <p:cNvSpPr/>
          <p:nvPr/>
        </p:nvSpPr>
        <p:spPr>
          <a:xfrm>
            <a:off x="8140383" y="2896235"/>
            <a:ext cx="1696720" cy="16967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miley Face 7">
            <a:extLst>
              <a:ext uri="{FF2B5EF4-FFF2-40B4-BE49-F238E27FC236}">
                <a16:creationId xmlns:a16="http://schemas.microsoft.com/office/drawing/2014/main" id="{5FF65442-5AA2-F354-33EB-CBC0CFE665C4}"/>
              </a:ext>
            </a:extLst>
          </p:cNvPr>
          <p:cNvSpPr/>
          <p:nvPr/>
        </p:nvSpPr>
        <p:spPr>
          <a:xfrm>
            <a:off x="8927944" y="1981551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miley Face 8">
            <a:extLst>
              <a:ext uri="{FF2B5EF4-FFF2-40B4-BE49-F238E27FC236}">
                <a16:creationId xmlns:a16="http://schemas.microsoft.com/office/drawing/2014/main" id="{02B032F3-9200-125A-1745-BA4C0031FB1D}"/>
              </a:ext>
            </a:extLst>
          </p:cNvPr>
          <p:cNvSpPr/>
          <p:nvPr/>
        </p:nvSpPr>
        <p:spPr>
          <a:xfrm>
            <a:off x="10317169" y="5047802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miley Face 9">
            <a:extLst>
              <a:ext uri="{FF2B5EF4-FFF2-40B4-BE49-F238E27FC236}">
                <a16:creationId xmlns:a16="http://schemas.microsoft.com/office/drawing/2014/main" id="{C31D7E91-66F7-4E09-F66A-8C6BE6743DAA}"/>
              </a:ext>
            </a:extLst>
          </p:cNvPr>
          <p:cNvSpPr/>
          <p:nvPr/>
        </p:nvSpPr>
        <p:spPr>
          <a:xfrm>
            <a:off x="7000886" y="4225477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E608C23-D0E1-F5A2-5C15-5EE544CF79FB}"/>
              </a:ext>
            </a:extLst>
          </p:cNvPr>
          <p:cNvSpPr/>
          <p:nvPr/>
        </p:nvSpPr>
        <p:spPr>
          <a:xfrm>
            <a:off x="6187440" y="996315"/>
            <a:ext cx="5496560" cy="549656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46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5" grpId="2" animBg="1"/>
      <p:bldP spid="15" grpId="3" animBg="1"/>
      <p:bldP spid="15" grpId="4" animBg="1"/>
      <p:bldP spid="15" grpId="5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C6828-17DD-031E-D8B5-CE099F6D1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 (03:45 – 05:30)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DA784-8332-BB59-753B-75761DC414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Phase Summary</a:t>
            </a:r>
          </a:p>
          <a:p>
            <a:r>
              <a:rPr lang="en-US" dirty="0"/>
              <a:t>3x Cycles</a:t>
            </a:r>
          </a:p>
          <a:p>
            <a:r>
              <a:rPr lang="en-US" dirty="0"/>
              <a:t>New cycle every 30s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2D2055-4885-AC44-C910-BA95C56C09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Important Mechanics</a:t>
            </a:r>
          </a:p>
          <a:p>
            <a:r>
              <a:rPr lang="en-US" dirty="0"/>
              <a:t>Beam</a:t>
            </a:r>
          </a:p>
          <a:p>
            <a:r>
              <a:rPr lang="en-US" dirty="0"/>
              <a:t>Spread Circles</a:t>
            </a:r>
          </a:p>
          <a:p>
            <a:r>
              <a:rPr lang="en-US" dirty="0"/>
              <a:t>Core Harvest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0455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CB177-B504-F8D6-0318-A3C258023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22534E3-3244-0BFA-2F48-00FEF0806F01}"/>
              </a:ext>
            </a:extLst>
          </p:cNvPr>
          <p:cNvSpPr/>
          <p:nvPr/>
        </p:nvSpPr>
        <p:spPr>
          <a:xfrm>
            <a:off x="8803639" y="4584696"/>
            <a:ext cx="274320" cy="2531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9D6ABBD-C9F6-4B98-96F2-5EFB366C409B}"/>
              </a:ext>
            </a:extLst>
          </p:cNvPr>
          <p:cNvSpPr/>
          <p:nvPr/>
        </p:nvSpPr>
        <p:spPr>
          <a:xfrm rot="5400000">
            <a:off x="10912473" y="2482214"/>
            <a:ext cx="274320" cy="2531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CBF7D77-776C-0322-CA9B-85BC0F38A26C}"/>
              </a:ext>
            </a:extLst>
          </p:cNvPr>
          <p:cNvSpPr/>
          <p:nvPr/>
        </p:nvSpPr>
        <p:spPr>
          <a:xfrm rot="5400000">
            <a:off x="6922157" y="2714916"/>
            <a:ext cx="274320" cy="2052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CF44B6D-3631-A118-0F37-CDB7271A3A94}"/>
              </a:ext>
            </a:extLst>
          </p:cNvPr>
          <p:cNvSpPr/>
          <p:nvPr/>
        </p:nvSpPr>
        <p:spPr>
          <a:xfrm>
            <a:off x="8798559" y="357197"/>
            <a:ext cx="274320" cy="2531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BE8223-09D5-E560-99C0-1762EE47F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 (Beam)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CFC4F-99DE-3155-EABC-B888C2EAED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12x Orbs</a:t>
            </a:r>
          </a:p>
          <a:p>
            <a:r>
              <a:rPr lang="en-US" dirty="0"/>
              <a:t>4x Beams on players</a:t>
            </a:r>
          </a:p>
          <a:p>
            <a:pPr lvl="1"/>
            <a:r>
              <a:rPr lang="en-US" dirty="0"/>
              <a:t>Beam aimed at orbs</a:t>
            </a:r>
          </a:p>
          <a:p>
            <a:pPr lvl="1"/>
            <a:r>
              <a:rPr lang="en-US" dirty="0"/>
              <a:t>6s to find position</a:t>
            </a:r>
          </a:p>
          <a:p>
            <a:pPr lvl="1"/>
            <a:r>
              <a:rPr lang="en-US" dirty="0"/>
              <a:t>Positions assigned beforehand</a:t>
            </a:r>
          </a:p>
          <a:p>
            <a:r>
              <a:rPr lang="en-US" dirty="0"/>
              <a:t>Damage split between people in the beam</a:t>
            </a:r>
          </a:p>
          <a:p>
            <a:pPr lvl="1"/>
            <a:r>
              <a:rPr lang="en-US" dirty="0"/>
              <a:t>Min 5 ppl in 1 beam </a:t>
            </a:r>
          </a:p>
          <a:p>
            <a:r>
              <a:rPr lang="en-US" dirty="0"/>
              <a:t>Beam activates orbs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960908-63D9-32ED-3C05-0E73233FE15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01D5EC2-43EA-8D16-91A3-29219C46D140}"/>
              </a:ext>
            </a:extLst>
          </p:cNvPr>
          <p:cNvSpPr/>
          <p:nvPr/>
        </p:nvSpPr>
        <p:spPr>
          <a:xfrm>
            <a:off x="6187440" y="996315"/>
            <a:ext cx="5496560" cy="549656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 descr="L'ura (IGC) - NPC - World of Warcraft">
            <a:extLst>
              <a:ext uri="{FF2B5EF4-FFF2-40B4-BE49-F238E27FC236}">
                <a16:creationId xmlns:a16="http://schemas.microsoft.com/office/drawing/2014/main" id="{BEF49EF2-CBAC-7D5C-5BC0-1E6361493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4848" y="3123722"/>
            <a:ext cx="1241743" cy="1241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AA04C78-3DDB-A9D9-3028-1B78AB541C8E}"/>
              </a:ext>
            </a:extLst>
          </p:cNvPr>
          <p:cNvSpPr/>
          <p:nvPr/>
        </p:nvSpPr>
        <p:spPr>
          <a:xfrm>
            <a:off x="8795712" y="354965"/>
            <a:ext cx="274320" cy="25311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3A583D-B30E-5272-C11B-654F92070483}"/>
              </a:ext>
            </a:extLst>
          </p:cNvPr>
          <p:cNvSpPr/>
          <p:nvPr/>
        </p:nvSpPr>
        <p:spPr>
          <a:xfrm>
            <a:off x="8798559" y="4584696"/>
            <a:ext cx="274320" cy="25311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3029A-79CE-16A5-EAC9-9E87F9E73F30}"/>
              </a:ext>
            </a:extLst>
          </p:cNvPr>
          <p:cNvSpPr/>
          <p:nvPr/>
        </p:nvSpPr>
        <p:spPr>
          <a:xfrm rot="5400000">
            <a:off x="10912473" y="2477226"/>
            <a:ext cx="274320" cy="25311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72E036-0B91-C70B-88BC-5214EEA58ECC}"/>
              </a:ext>
            </a:extLst>
          </p:cNvPr>
          <p:cNvSpPr/>
          <p:nvPr/>
        </p:nvSpPr>
        <p:spPr>
          <a:xfrm rot="5400000">
            <a:off x="6926668" y="2721609"/>
            <a:ext cx="274320" cy="205232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miley Face 11">
            <a:extLst>
              <a:ext uri="{FF2B5EF4-FFF2-40B4-BE49-F238E27FC236}">
                <a16:creationId xmlns:a16="http://schemas.microsoft.com/office/drawing/2014/main" id="{5D2293FB-FAFD-D55A-A398-EFCC24284265}"/>
              </a:ext>
            </a:extLst>
          </p:cNvPr>
          <p:cNvSpPr/>
          <p:nvPr/>
        </p:nvSpPr>
        <p:spPr>
          <a:xfrm>
            <a:off x="8743336" y="1280385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miley Face 12">
            <a:extLst>
              <a:ext uri="{FF2B5EF4-FFF2-40B4-BE49-F238E27FC236}">
                <a16:creationId xmlns:a16="http://schemas.microsoft.com/office/drawing/2014/main" id="{130AFFF0-DF03-BDFA-BB0E-5DBD073F639A}"/>
              </a:ext>
            </a:extLst>
          </p:cNvPr>
          <p:cNvSpPr/>
          <p:nvPr/>
        </p:nvSpPr>
        <p:spPr>
          <a:xfrm>
            <a:off x="9487554" y="1868289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miley Face 13">
            <a:extLst>
              <a:ext uri="{FF2B5EF4-FFF2-40B4-BE49-F238E27FC236}">
                <a16:creationId xmlns:a16="http://schemas.microsoft.com/office/drawing/2014/main" id="{447F82EE-5A4F-8089-C68A-13CE1833D741}"/>
              </a:ext>
            </a:extLst>
          </p:cNvPr>
          <p:cNvSpPr/>
          <p:nvPr/>
        </p:nvSpPr>
        <p:spPr>
          <a:xfrm>
            <a:off x="8085478" y="1690688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miley Face 14">
            <a:extLst>
              <a:ext uri="{FF2B5EF4-FFF2-40B4-BE49-F238E27FC236}">
                <a16:creationId xmlns:a16="http://schemas.microsoft.com/office/drawing/2014/main" id="{7F415A06-5965-48A5-166E-D48179FC1CCC}"/>
              </a:ext>
            </a:extLst>
          </p:cNvPr>
          <p:cNvSpPr/>
          <p:nvPr/>
        </p:nvSpPr>
        <p:spPr>
          <a:xfrm>
            <a:off x="9624409" y="2594534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miley Face 15">
            <a:extLst>
              <a:ext uri="{FF2B5EF4-FFF2-40B4-BE49-F238E27FC236}">
                <a16:creationId xmlns:a16="http://schemas.microsoft.com/office/drawing/2014/main" id="{046CC77C-1AB5-FF87-DBCF-0DF39C83D899}"/>
              </a:ext>
            </a:extLst>
          </p:cNvPr>
          <p:cNvSpPr/>
          <p:nvPr/>
        </p:nvSpPr>
        <p:spPr>
          <a:xfrm>
            <a:off x="7767976" y="3054387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miley Face 16">
            <a:extLst>
              <a:ext uri="{FF2B5EF4-FFF2-40B4-BE49-F238E27FC236}">
                <a16:creationId xmlns:a16="http://schemas.microsoft.com/office/drawing/2014/main" id="{E337C83D-A375-BCDD-5781-C107FF6CFC91}"/>
              </a:ext>
            </a:extLst>
          </p:cNvPr>
          <p:cNvSpPr/>
          <p:nvPr/>
        </p:nvSpPr>
        <p:spPr>
          <a:xfrm>
            <a:off x="8726188" y="5450858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miley Face 17">
            <a:extLst>
              <a:ext uri="{FF2B5EF4-FFF2-40B4-BE49-F238E27FC236}">
                <a16:creationId xmlns:a16="http://schemas.microsoft.com/office/drawing/2014/main" id="{FF9217E2-4B0E-F57C-EE54-38EA7D21859F}"/>
              </a:ext>
            </a:extLst>
          </p:cNvPr>
          <p:cNvSpPr/>
          <p:nvPr/>
        </p:nvSpPr>
        <p:spPr>
          <a:xfrm>
            <a:off x="6543082" y="3541379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miley Face 18">
            <a:extLst>
              <a:ext uri="{FF2B5EF4-FFF2-40B4-BE49-F238E27FC236}">
                <a16:creationId xmlns:a16="http://schemas.microsoft.com/office/drawing/2014/main" id="{6FEF7BF6-CBCE-1EEF-C6A5-3E6B043216BD}"/>
              </a:ext>
            </a:extLst>
          </p:cNvPr>
          <p:cNvSpPr/>
          <p:nvPr/>
        </p:nvSpPr>
        <p:spPr>
          <a:xfrm>
            <a:off x="9550487" y="5152417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miley Face 19">
            <a:extLst>
              <a:ext uri="{FF2B5EF4-FFF2-40B4-BE49-F238E27FC236}">
                <a16:creationId xmlns:a16="http://schemas.microsoft.com/office/drawing/2014/main" id="{6B71A7D2-BAC1-60EF-5B3C-C04C20413201}"/>
              </a:ext>
            </a:extLst>
          </p:cNvPr>
          <p:cNvSpPr/>
          <p:nvPr/>
        </p:nvSpPr>
        <p:spPr>
          <a:xfrm>
            <a:off x="8202009" y="5766161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miley Face 20">
            <a:extLst>
              <a:ext uri="{FF2B5EF4-FFF2-40B4-BE49-F238E27FC236}">
                <a16:creationId xmlns:a16="http://schemas.microsoft.com/office/drawing/2014/main" id="{81C48D13-CF30-F7CB-DDDD-CBE5FCBFBB78}"/>
              </a:ext>
            </a:extLst>
          </p:cNvPr>
          <p:cNvSpPr/>
          <p:nvPr/>
        </p:nvSpPr>
        <p:spPr>
          <a:xfrm>
            <a:off x="10294777" y="283389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miley Face 21">
            <a:extLst>
              <a:ext uri="{FF2B5EF4-FFF2-40B4-BE49-F238E27FC236}">
                <a16:creationId xmlns:a16="http://schemas.microsoft.com/office/drawing/2014/main" id="{2680EB42-D1DE-17DE-CF7D-99D4C2720687}"/>
              </a:ext>
            </a:extLst>
          </p:cNvPr>
          <p:cNvSpPr/>
          <p:nvPr/>
        </p:nvSpPr>
        <p:spPr>
          <a:xfrm>
            <a:off x="11018733" y="3559702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Smiley Face 22">
            <a:extLst>
              <a:ext uri="{FF2B5EF4-FFF2-40B4-BE49-F238E27FC236}">
                <a16:creationId xmlns:a16="http://schemas.microsoft.com/office/drawing/2014/main" id="{7A566878-551E-2B87-B449-4AC81F555A39}"/>
              </a:ext>
            </a:extLst>
          </p:cNvPr>
          <p:cNvSpPr/>
          <p:nvPr/>
        </p:nvSpPr>
        <p:spPr>
          <a:xfrm>
            <a:off x="10797450" y="4156386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F89AF35-04B0-6475-770D-68746183CDAD}"/>
              </a:ext>
            </a:extLst>
          </p:cNvPr>
          <p:cNvSpPr/>
          <p:nvPr/>
        </p:nvSpPr>
        <p:spPr>
          <a:xfrm>
            <a:off x="8676017" y="6231315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E3C283E-5002-65D7-BAA0-36158CA02683}"/>
              </a:ext>
            </a:extLst>
          </p:cNvPr>
          <p:cNvSpPr/>
          <p:nvPr/>
        </p:nvSpPr>
        <p:spPr>
          <a:xfrm>
            <a:off x="5935421" y="3484220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75F97D7-9626-B4B5-564E-34FB78B22FA2}"/>
              </a:ext>
            </a:extLst>
          </p:cNvPr>
          <p:cNvSpPr/>
          <p:nvPr/>
        </p:nvSpPr>
        <p:spPr>
          <a:xfrm>
            <a:off x="8676017" y="696818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BF9BC23-BBEC-A2AB-F353-5E8E459D2E52}"/>
              </a:ext>
            </a:extLst>
          </p:cNvPr>
          <p:cNvSpPr/>
          <p:nvPr/>
        </p:nvSpPr>
        <p:spPr>
          <a:xfrm>
            <a:off x="11422308" y="3502543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7CCAC59-FC79-55BE-260E-54131DFC2A13}"/>
              </a:ext>
            </a:extLst>
          </p:cNvPr>
          <p:cNvSpPr/>
          <p:nvPr/>
        </p:nvSpPr>
        <p:spPr>
          <a:xfrm>
            <a:off x="6257936" y="2138524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C3A13F6-A506-6A24-4670-570A5158E39D}"/>
              </a:ext>
            </a:extLst>
          </p:cNvPr>
          <p:cNvSpPr/>
          <p:nvPr/>
        </p:nvSpPr>
        <p:spPr>
          <a:xfrm>
            <a:off x="7254266" y="1082022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6D838F8-815E-EAE7-8C1F-42B8C6AED0D5}"/>
              </a:ext>
            </a:extLst>
          </p:cNvPr>
          <p:cNvSpPr/>
          <p:nvPr/>
        </p:nvSpPr>
        <p:spPr>
          <a:xfrm>
            <a:off x="10119393" y="1106292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7105345-4557-5C7D-DE43-4B3350811ECC}"/>
              </a:ext>
            </a:extLst>
          </p:cNvPr>
          <p:cNvSpPr/>
          <p:nvPr/>
        </p:nvSpPr>
        <p:spPr>
          <a:xfrm>
            <a:off x="11164594" y="2155994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C17EC6E-38DF-F32D-4516-C987810B7913}"/>
              </a:ext>
            </a:extLst>
          </p:cNvPr>
          <p:cNvSpPr/>
          <p:nvPr/>
        </p:nvSpPr>
        <p:spPr>
          <a:xfrm>
            <a:off x="6187851" y="4767398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87C85E9-6B0D-6FB5-1C2A-77C73A22D364}"/>
              </a:ext>
            </a:extLst>
          </p:cNvPr>
          <p:cNvSpPr/>
          <p:nvPr/>
        </p:nvSpPr>
        <p:spPr>
          <a:xfrm>
            <a:off x="7149788" y="5813389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39120FF-D420-3F4B-830C-3B5BC1ADD5D9}"/>
              </a:ext>
            </a:extLst>
          </p:cNvPr>
          <p:cNvSpPr/>
          <p:nvPr/>
        </p:nvSpPr>
        <p:spPr>
          <a:xfrm>
            <a:off x="10180460" y="5890096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71BBFAC-309B-6167-C766-FAEF4E714E68}"/>
              </a:ext>
            </a:extLst>
          </p:cNvPr>
          <p:cNvSpPr/>
          <p:nvPr/>
        </p:nvSpPr>
        <p:spPr>
          <a:xfrm>
            <a:off x="11152829" y="4868332"/>
            <a:ext cx="513710" cy="51371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F2AF241-7EA7-98D3-6219-3ABCBECA089E}"/>
              </a:ext>
            </a:extLst>
          </p:cNvPr>
          <p:cNvSpPr/>
          <p:nvPr/>
        </p:nvSpPr>
        <p:spPr>
          <a:xfrm>
            <a:off x="8676017" y="6231315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D8225F1-1EA3-8E53-79A7-0B3311E8D55A}"/>
              </a:ext>
            </a:extLst>
          </p:cNvPr>
          <p:cNvSpPr/>
          <p:nvPr/>
        </p:nvSpPr>
        <p:spPr>
          <a:xfrm>
            <a:off x="5935421" y="3484220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6D57585-BF3C-54C3-3FF1-FD8ED963EF63}"/>
              </a:ext>
            </a:extLst>
          </p:cNvPr>
          <p:cNvSpPr/>
          <p:nvPr/>
        </p:nvSpPr>
        <p:spPr>
          <a:xfrm>
            <a:off x="8676017" y="696818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BC18A0B-EFB3-D7A7-4124-C5D34C0DEDCF}"/>
              </a:ext>
            </a:extLst>
          </p:cNvPr>
          <p:cNvSpPr/>
          <p:nvPr/>
        </p:nvSpPr>
        <p:spPr>
          <a:xfrm>
            <a:off x="11422308" y="3502543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86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56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4.44444E-6 L -0.09636 0.25 " pathEditMode="relative" rAng="0" ptsTypes="AA">
                                      <p:cBhvr>
                                        <p:cTn id="100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818" y="12500"/>
                                    </p:animMotion>
                                  </p:childTnLst>
                                </p:cTn>
                              </p:par>
                              <p:par>
                                <p:cTn id="101" presetID="56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2.96296E-6 L -0.03503 0.09097 " pathEditMode="relative" rAng="0" ptsTypes="AA">
                                      <p:cBhvr>
                                        <p:cTn id="102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58" y="4537"/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56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1.11111E-6 L -0.04935 -0.0206 " pathEditMode="relative" rAng="0" ptsTypes="AA">
                                      <p:cBhvr>
                                        <p:cTn id="10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74" y="-1042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56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2.59259E-6 L -0.08359 -0.04607 " pathEditMode="relative" rAng="0" ptsTypes="AA">
                                      <p:cBhvr>
                                        <p:cTn id="10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180" y="-2315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-1.11111E-6 L -0.00157 0.08611 " pathEditMode="relative" rAng="0" ptsTypes="AA">
                                      <p:cBhvr>
                                        <p:cTn id="10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" y="4306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4.81481E-6 L -0.01106 -0.1088 " pathEditMode="relative" rAng="0" ptsTypes="AA">
                                      <p:cBhvr>
                                        <p:cTn id="11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0" y="-5440"/>
                                    </p:animMotion>
                                  </p:childTnLst>
                                </p:cTn>
                              </p:par>
                              <p:par>
                                <p:cTn id="1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-4.07407E-6 L -0.05586 -0.0331 " pathEditMode="relative" rAng="0" ptsTypes="AA">
                                      <p:cBhvr>
                                        <p:cTn id="112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99" y="-1667"/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56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2.59259E-6 L 0.04089 0.02916 " pathEditMode="relative" rAng="0" ptsTypes="AA">
                                      <p:cBhvr>
                                        <p:cTn id="114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44" y="1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50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6" grpId="0" animBg="1"/>
      <p:bldP spid="25" grpId="0" animBg="1"/>
      <p:bldP spid="24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32F22-C36C-EEF8-F1AB-326BA76DA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L'ura (IGC) - NPC - World of Warcraft">
            <a:extLst>
              <a:ext uri="{FF2B5EF4-FFF2-40B4-BE49-F238E27FC236}">
                <a16:creationId xmlns:a16="http://schemas.microsoft.com/office/drawing/2014/main" id="{A1BD39EA-00CD-2E15-EC00-002A9BFE6E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4848" y="3123722"/>
            <a:ext cx="1241743" cy="1241743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67" name="Oval 66">
            <a:extLst>
              <a:ext uri="{FF2B5EF4-FFF2-40B4-BE49-F238E27FC236}">
                <a16:creationId xmlns:a16="http://schemas.microsoft.com/office/drawing/2014/main" id="{A89D5775-4229-B9EC-8E28-C1681860BF69}"/>
              </a:ext>
            </a:extLst>
          </p:cNvPr>
          <p:cNvSpPr/>
          <p:nvPr/>
        </p:nvSpPr>
        <p:spPr>
          <a:xfrm>
            <a:off x="6326885" y="3716545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9C5AEC5-55C7-76D6-7555-FF1494699086}"/>
              </a:ext>
            </a:extLst>
          </p:cNvPr>
          <p:cNvSpPr/>
          <p:nvPr/>
        </p:nvSpPr>
        <p:spPr>
          <a:xfrm>
            <a:off x="8177755" y="3955225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2EFFE999-756C-52AF-AD1B-D7173BBE8816}"/>
              </a:ext>
            </a:extLst>
          </p:cNvPr>
          <p:cNvSpPr/>
          <p:nvPr/>
        </p:nvSpPr>
        <p:spPr>
          <a:xfrm>
            <a:off x="7566400" y="4972959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372DAD8-08F0-3555-061A-D5C5DF055E88}"/>
              </a:ext>
            </a:extLst>
          </p:cNvPr>
          <p:cNvSpPr/>
          <p:nvPr/>
        </p:nvSpPr>
        <p:spPr>
          <a:xfrm>
            <a:off x="6930153" y="2120164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2D2BB646-7655-4B8C-B266-453ABD0D6014}"/>
              </a:ext>
            </a:extLst>
          </p:cNvPr>
          <p:cNvSpPr/>
          <p:nvPr/>
        </p:nvSpPr>
        <p:spPr>
          <a:xfrm>
            <a:off x="7488982" y="2220905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E0EF069-2075-C416-C109-930AD1E40CC7}"/>
              </a:ext>
            </a:extLst>
          </p:cNvPr>
          <p:cNvSpPr/>
          <p:nvPr/>
        </p:nvSpPr>
        <p:spPr>
          <a:xfrm>
            <a:off x="7517065" y="1106287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D1C3036-57CD-DC3D-98F5-BE8458C5830B}"/>
              </a:ext>
            </a:extLst>
          </p:cNvPr>
          <p:cNvSpPr/>
          <p:nvPr/>
        </p:nvSpPr>
        <p:spPr>
          <a:xfrm>
            <a:off x="9056123" y="1210528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18FF8E04-7DCE-79C9-4C1F-CF033357CB56}"/>
              </a:ext>
            </a:extLst>
          </p:cNvPr>
          <p:cNvSpPr/>
          <p:nvPr/>
        </p:nvSpPr>
        <p:spPr>
          <a:xfrm>
            <a:off x="9202938" y="2190771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6422A297-4F4F-5218-412E-5DC76AA4A8B1}"/>
              </a:ext>
            </a:extLst>
          </p:cNvPr>
          <p:cNvSpPr/>
          <p:nvPr/>
        </p:nvSpPr>
        <p:spPr>
          <a:xfrm>
            <a:off x="10214229" y="2177481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2B9BC8D-A3A4-65B2-22FC-97536C27ABBB}"/>
              </a:ext>
            </a:extLst>
          </p:cNvPr>
          <p:cNvSpPr/>
          <p:nvPr/>
        </p:nvSpPr>
        <p:spPr>
          <a:xfrm>
            <a:off x="9165104" y="3775199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9F77C443-1A31-10F0-D3DA-F2DCBB04C084}"/>
              </a:ext>
            </a:extLst>
          </p:cNvPr>
          <p:cNvSpPr/>
          <p:nvPr/>
        </p:nvSpPr>
        <p:spPr>
          <a:xfrm>
            <a:off x="9301559" y="4772926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1394519-2998-FB46-01F2-838E77113B79}"/>
              </a:ext>
            </a:extLst>
          </p:cNvPr>
          <p:cNvSpPr/>
          <p:nvPr/>
        </p:nvSpPr>
        <p:spPr>
          <a:xfrm>
            <a:off x="10431909" y="3592441"/>
            <a:ext cx="1458442" cy="14584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C47774-60D1-D6E6-07E5-1DC8B7E04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 (Spread Circles)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1A689-652F-1FA9-0FBA-02C6AC360D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Activated orbs exert a PULL force</a:t>
            </a:r>
          </a:p>
          <a:p>
            <a:pPr lvl="1"/>
            <a:r>
              <a:rPr lang="en-US" dirty="0"/>
              <a:t>Players are pulled towards orbs</a:t>
            </a:r>
          </a:p>
          <a:p>
            <a:pPr lvl="1"/>
            <a:r>
              <a:rPr lang="en-US" dirty="0"/>
              <a:t>Force cancels out!</a:t>
            </a:r>
          </a:p>
          <a:p>
            <a:r>
              <a:rPr lang="en-US" dirty="0"/>
              <a:t>Boss also exerts a PULL force</a:t>
            </a:r>
          </a:p>
          <a:p>
            <a:pPr lvl="1"/>
            <a:r>
              <a:rPr lang="en-US" dirty="0"/>
              <a:t>Only effective force</a:t>
            </a:r>
          </a:p>
          <a:p>
            <a:pPr lvl="1"/>
            <a:r>
              <a:rPr lang="en-US" dirty="0"/>
              <a:t>Players are pulled towards boss</a:t>
            </a:r>
          </a:p>
          <a:p>
            <a:r>
              <a:rPr lang="en-US" dirty="0"/>
              <a:t>10s to run and spread out</a:t>
            </a:r>
          </a:p>
          <a:p>
            <a:pPr lvl="1"/>
            <a:r>
              <a:rPr lang="en-US" dirty="0"/>
              <a:t>Positions assigned beforehand</a:t>
            </a:r>
          </a:p>
          <a:p>
            <a:pPr lvl="1"/>
            <a:r>
              <a:rPr lang="en-US" dirty="0"/>
              <a:t>1x Circle = pain</a:t>
            </a:r>
          </a:p>
          <a:p>
            <a:pPr lvl="1"/>
            <a:r>
              <a:rPr lang="en-US" dirty="0"/>
              <a:t>Standing in another player’s circle = 2x Circle = DEAD</a:t>
            </a:r>
          </a:p>
          <a:p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D91E3A-4BE2-0591-E491-1168F90F41FC}"/>
              </a:ext>
            </a:extLst>
          </p:cNvPr>
          <p:cNvSpPr/>
          <p:nvPr/>
        </p:nvSpPr>
        <p:spPr>
          <a:xfrm>
            <a:off x="6187440" y="996315"/>
            <a:ext cx="5496560" cy="549656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miley Face 12">
            <a:extLst>
              <a:ext uri="{FF2B5EF4-FFF2-40B4-BE49-F238E27FC236}">
                <a16:creationId xmlns:a16="http://schemas.microsoft.com/office/drawing/2014/main" id="{69FDF9D4-89D6-2592-F26A-220F0B6CAFBE}"/>
              </a:ext>
            </a:extLst>
          </p:cNvPr>
          <p:cNvSpPr/>
          <p:nvPr/>
        </p:nvSpPr>
        <p:spPr>
          <a:xfrm>
            <a:off x="8743336" y="1280385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miley Face 13">
            <a:extLst>
              <a:ext uri="{FF2B5EF4-FFF2-40B4-BE49-F238E27FC236}">
                <a16:creationId xmlns:a16="http://schemas.microsoft.com/office/drawing/2014/main" id="{E18996B9-E3AF-A409-A233-C7A66552FB54}"/>
              </a:ext>
            </a:extLst>
          </p:cNvPr>
          <p:cNvSpPr/>
          <p:nvPr/>
        </p:nvSpPr>
        <p:spPr>
          <a:xfrm>
            <a:off x="8922711" y="1738381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miley Face 14">
            <a:extLst>
              <a:ext uri="{FF2B5EF4-FFF2-40B4-BE49-F238E27FC236}">
                <a16:creationId xmlns:a16="http://schemas.microsoft.com/office/drawing/2014/main" id="{1717831B-214C-9546-E9E7-841C8DA1592E}"/>
              </a:ext>
            </a:extLst>
          </p:cNvPr>
          <p:cNvSpPr/>
          <p:nvPr/>
        </p:nvSpPr>
        <p:spPr>
          <a:xfrm>
            <a:off x="6967783" y="337734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miley Face 15">
            <a:extLst>
              <a:ext uri="{FF2B5EF4-FFF2-40B4-BE49-F238E27FC236}">
                <a16:creationId xmlns:a16="http://schemas.microsoft.com/office/drawing/2014/main" id="{D8EA574F-89A0-BE08-1382-778B301E5927}"/>
              </a:ext>
            </a:extLst>
          </p:cNvPr>
          <p:cNvSpPr/>
          <p:nvPr/>
        </p:nvSpPr>
        <p:spPr>
          <a:xfrm>
            <a:off x="8670639" y="2329417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miley Face 16">
            <a:extLst>
              <a:ext uri="{FF2B5EF4-FFF2-40B4-BE49-F238E27FC236}">
                <a16:creationId xmlns:a16="http://schemas.microsoft.com/office/drawing/2014/main" id="{180D4EB3-5420-F8A0-3FFE-F76933BAAF99}"/>
              </a:ext>
            </a:extLst>
          </p:cNvPr>
          <p:cNvSpPr/>
          <p:nvPr/>
        </p:nvSpPr>
        <p:spPr>
          <a:xfrm>
            <a:off x="7435684" y="3643493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miley Face 17">
            <a:extLst>
              <a:ext uri="{FF2B5EF4-FFF2-40B4-BE49-F238E27FC236}">
                <a16:creationId xmlns:a16="http://schemas.microsoft.com/office/drawing/2014/main" id="{9F30C999-733A-EEF0-DEE6-A4B1E2B0A8FD}"/>
              </a:ext>
            </a:extLst>
          </p:cNvPr>
          <p:cNvSpPr/>
          <p:nvPr/>
        </p:nvSpPr>
        <p:spPr>
          <a:xfrm>
            <a:off x="8726188" y="5450858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miley Face 18">
            <a:extLst>
              <a:ext uri="{FF2B5EF4-FFF2-40B4-BE49-F238E27FC236}">
                <a16:creationId xmlns:a16="http://schemas.microsoft.com/office/drawing/2014/main" id="{2B60F174-8965-E1EC-0FD9-351AFB687126}"/>
              </a:ext>
            </a:extLst>
          </p:cNvPr>
          <p:cNvSpPr/>
          <p:nvPr/>
        </p:nvSpPr>
        <p:spPr>
          <a:xfrm>
            <a:off x="6543082" y="3541379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miley Face 19">
            <a:extLst>
              <a:ext uri="{FF2B5EF4-FFF2-40B4-BE49-F238E27FC236}">
                <a16:creationId xmlns:a16="http://schemas.microsoft.com/office/drawing/2014/main" id="{D1C0B621-6352-B408-E77B-23EEDA2A1936}"/>
              </a:ext>
            </a:extLst>
          </p:cNvPr>
          <p:cNvSpPr/>
          <p:nvPr/>
        </p:nvSpPr>
        <p:spPr>
          <a:xfrm>
            <a:off x="8943032" y="495202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miley Face 20">
            <a:extLst>
              <a:ext uri="{FF2B5EF4-FFF2-40B4-BE49-F238E27FC236}">
                <a16:creationId xmlns:a16="http://schemas.microsoft.com/office/drawing/2014/main" id="{628A70F6-98E2-371A-A08C-EF5FD8968D1E}"/>
              </a:ext>
            </a:extLst>
          </p:cNvPr>
          <p:cNvSpPr/>
          <p:nvPr/>
        </p:nvSpPr>
        <p:spPr>
          <a:xfrm>
            <a:off x="8733175" y="5861685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miley Face 21">
            <a:extLst>
              <a:ext uri="{FF2B5EF4-FFF2-40B4-BE49-F238E27FC236}">
                <a16:creationId xmlns:a16="http://schemas.microsoft.com/office/drawing/2014/main" id="{DCF47C35-DD7D-F117-5441-2FA4E7D77ADD}"/>
              </a:ext>
            </a:extLst>
          </p:cNvPr>
          <p:cNvSpPr/>
          <p:nvPr/>
        </p:nvSpPr>
        <p:spPr>
          <a:xfrm>
            <a:off x="10298179" y="3391211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Smiley Face 22">
            <a:extLst>
              <a:ext uri="{FF2B5EF4-FFF2-40B4-BE49-F238E27FC236}">
                <a16:creationId xmlns:a16="http://schemas.microsoft.com/office/drawing/2014/main" id="{98C2E111-F6AC-110D-A3C3-F49104C11DFC}"/>
              </a:ext>
            </a:extLst>
          </p:cNvPr>
          <p:cNvSpPr/>
          <p:nvPr/>
        </p:nvSpPr>
        <p:spPr>
          <a:xfrm>
            <a:off x="11018733" y="3559702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Smiley Face 23">
            <a:extLst>
              <a:ext uri="{FF2B5EF4-FFF2-40B4-BE49-F238E27FC236}">
                <a16:creationId xmlns:a16="http://schemas.microsoft.com/office/drawing/2014/main" id="{3D86D612-54BE-EFEE-5EE5-9244EC26F914}"/>
              </a:ext>
            </a:extLst>
          </p:cNvPr>
          <p:cNvSpPr/>
          <p:nvPr/>
        </p:nvSpPr>
        <p:spPr>
          <a:xfrm>
            <a:off x="10707047" y="3455485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DF357D5-6816-70ED-42B4-101352DC2AF5}"/>
              </a:ext>
            </a:extLst>
          </p:cNvPr>
          <p:cNvSpPr/>
          <p:nvPr/>
        </p:nvSpPr>
        <p:spPr>
          <a:xfrm>
            <a:off x="8676017" y="6231315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CA7D758-E7FC-2E0B-27CD-3094DD36726F}"/>
              </a:ext>
            </a:extLst>
          </p:cNvPr>
          <p:cNvSpPr/>
          <p:nvPr/>
        </p:nvSpPr>
        <p:spPr>
          <a:xfrm>
            <a:off x="5935421" y="3484220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4286981-1131-CB56-28BA-70B5459C50C9}"/>
              </a:ext>
            </a:extLst>
          </p:cNvPr>
          <p:cNvSpPr/>
          <p:nvPr/>
        </p:nvSpPr>
        <p:spPr>
          <a:xfrm>
            <a:off x="8676017" y="696818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8DAE470-89DD-7238-8A6A-66DECE539D34}"/>
              </a:ext>
            </a:extLst>
          </p:cNvPr>
          <p:cNvSpPr/>
          <p:nvPr/>
        </p:nvSpPr>
        <p:spPr>
          <a:xfrm>
            <a:off x="11422308" y="3502543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D5E95F9-E030-42EF-28B9-1E7818650C00}"/>
              </a:ext>
            </a:extLst>
          </p:cNvPr>
          <p:cNvSpPr/>
          <p:nvPr/>
        </p:nvSpPr>
        <p:spPr>
          <a:xfrm>
            <a:off x="6257936" y="2138524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F335400-B2F9-CFDA-EF0D-551E1CDBFDA4}"/>
              </a:ext>
            </a:extLst>
          </p:cNvPr>
          <p:cNvSpPr/>
          <p:nvPr/>
        </p:nvSpPr>
        <p:spPr>
          <a:xfrm>
            <a:off x="7254266" y="1082022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834B840-EB11-2292-B065-7C96D86F6574}"/>
              </a:ext>
            </a:extLst>
          </p:cNvPr>
          <p:cNvSpPr/>
          <p:nvPr/>
        </p:nvSpPr>
        <p:spPr>
          <a:xfrm>
            <a:off x="10119393" y="1106292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4985361-D3CB-B8E8-4642-B96D9A26BD55}"/>
              </a:ext>
            </a:extLst>
          </p:cNvPr>
          <p:cNvSpPr/>
          <p:nvPr/>
        </p:nvSpPr>
        <p:spPr>
          <a:xfrm>
            <a:off x="11164594" y="2155994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2CCE214-02E5-24BE-C9C0-A6301B1A0D17}"/>
              </a:ext>
            </a:extLst>
          </p:cNvPr>
          <p:cNvSpPr/>
          <p:nvPr/>
        </p:nvSpPr>
        <p:spPr>
          <a:xfrm>
            <a:off x="6187851" y="4767398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7B298CA-A589-4EFC-59F6-7AD636DC094D}"/>
              </a:ext>
            </a:extLst>
          </p:cNvPr>
          <p:cNvSpPr/>
          <p:nvPr/>
        </p:nvSpPr>
        <p:spPr>
          <a:xfrm>
            <a:off x="7149788" y="5813389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7407E78-B8AF-755C-3F5A-C0732201161C}"/>
              </a:ext>
            </a:extLst>
          </p:cNvPr>
          <p:cNvSpPr/>
          <p:nvPr/>
        </p:nvSpPr>
        <p:spPr>
          <a:xfrm>
            <a:off x="10180460" y="5890096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26F670B-7AA7-1366-7598-AB54ACB03A03}"/>
              </a:ext>
            </a:extLst>
          </p:cNvPr>
          <p:cNvSpPr/>
          <p:nvPr/>
        </p:nvSpPr>
        <p:spPr>
          <a:xfrm>
            <a:off x="11152829" y="4868332"/>
            <a:ext cx="513710" cy="51371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2E82624-C46F-3658-11BD-79048ACC006E}"/>
              </a:ext>
            </a:extLst>
          </p:cNvPr>
          <p:cNvSpPr/>
          <p:nvPr/>
        </p:nvSpPr>
        <p:spPr>
          <a:xfrm>
            <a:off x="8676017" y="6231315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9BA4687-E056-4DC3-1EC7-21D9E03A4B75}"/>
              </a:ext>
            </a:extLst>
          </p:cNvPr>
          <p:cNvSpPr/>
          <p:nvPr/>
        </p:nvSpPr>
        <p:spPr>
          <a:xfrm>
            <a:off x="5935421" y="3484220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CA42A8C-6F2C-461C-0DCF-83DD1FE3A0EA}"/>
              </a:ext>
            </a:extLst>
          </p:cNvPr>
          <p:cNvSpPr/>
          <p:nvPr/>
        </p:nvSpPr>
        <p:spPr>
          <a:xfrm>
            <a:off x="8676017" y="696818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03B323C-EFA6-C938-5B28-FA92EFB69D89}"/>
              </a:ext>
            </a:extLst>
          </p:cNvPr>
          <p:cNvSpPr/>
          <p:nvPr/>
        </p:nvSpPr>
        <p:spPr>
          <a:xfrm>
            <a:off x="11422308" y="3502543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Smiley Face 41">
            <a:extLst>
              <a:ext uri="{FF2B5EF4-FFF2-40B4-BE49-F238E27FC236}">
                <a16:creationId xmlns:a16="http://schemas.microsoft.com/office/drawing/2014/main" id="{AE2338D7-63C8-08B7-A6C0-AD32464E7C7E}"/>
              </a:ext>
            </a:extLst>
          </p:cNvPr>
          <p:cNvSpPr/>
          <p:nvPr/>
        </p:nvSpPr>
        <p:spPr>
          <a:xfrm>
            <a:off x="8621933" y="4016253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Smiley Face 42">
            <a:extLst>
              <a:ext uri="{FF2B5EF4-FFF2-40B4-BE49-F238E27FC236}">
                <a16:creationId xmlns:a16="http://schemas.microsoft.com/office/drawing/2014/main" id="{99A8EEA7-4F4C-DC1A-3577-7556738B1ECF}"/>
              </a:ext>
            </a:extLst>
          </p:cNvPr>
          <p:cNvSpPr/>
          <p:nvPr/>
        </p:nvSpPr>
        <p:spPr>
          <a:xfrm>
            <a:off x="8853793" y="386880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Smiley Face 43">
            <a:extLst>
              <a:ext uri="{FF2B5EF4-FFF2-40B4-BE49-F238E27FC236}">
                <a16:creationId xmlns:a16="http://schemas.microsoft.com/office/drawing/2014/main" id="{09715F78-5D2D-EB7B-4E70-BA0C77F48961}"/>
              </a:ext>
            </a:extLst>
          </p:cNvPr>
          <p:cNvSpPr/>
          <p:nvPr/>
        </p:nvSpPr>
        <p:spPr>
          <a:xfrm>
            <a:off x="8876010" y="3929732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Smiley Face 44">
            <a:extLst>
              <a:ext uri="{FF2B5EF4-FFF2-40B4-BE49-F238E27FC236}">
                <a16:creationId xmlns:a16="http://schemas.microsoft.com/office/drawing/2014/main" id="{5C07E519-EF13-25E5-CD3E-66376E1D7D64}"/>
              </a:ext>
            </a:extLst>
          </p:cNvPr>
          <p:cNvSpPr/>
          <p:nvPr/>
        </p:nvSpPr>
        <p:spPr>
          <a:xfrm>
            <a:off x="9139362" y="3741075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Smiley Face 45">
            <a:extLst>
              <a:ext uri="{FF2B5EF4-FFF2-40B4-BE49-F238E27FC236}">
                <a16:creationId xmlns:a16="http://schemas.microsoft.com/office/drawing/2014/main" id="{AA92EA88-9E7C-5989-E194-4A9B6498D9CE}"/>
              </a:ext>
            </a:extLst>
          </p:cNvPr>
          <p:cNvSpPr/>
          <p:nvPr/>
        </p:nvSpPr>
        <p:spPr>
          <a:xfrm>
            <a:off x="8920016" y="3479879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Smiley Face 46">
            <a:extLst>
              <a:ext uri="{FF2B5EF4-FFF2-40B4-BE49-F238E27FC236}">
                <a16:creationId xmlns:a16="http://schemas.microsoft.com/office/drawing/2014/main" id="{13D3BFDE-235A-4699-03AF-36BB9A6C6ABF}"/>
              </a:ext>
            </a:extLst>
          </p:cNvPr>
          <p:cNvSpPr/>
          <p:nvPr/>
        </p:nvSpPr>
        <p:spPr>
          <a:xfrm>
            <a:off x="8959593" y="3262677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miley Face 47">
            <a:extLst>
              <a:ext uri="{FF2B5EF4-FFF2-40B4-BE49-F238E27FC236}">
                <a16:creationId xmlns:a16="http://schemas.microsoft.com/office/drawing/2014/main" id="{D3668948-3415-67AF-5383-BC12BF924175}"/>
              </a:ext>
            </a:extLst>
          </p:cNvPr>
          <p:cNvSpPr/>
          <p:nvPr/>
        </p:nvSpPr>
        <p:spPr>
          <a:xfrm>
            <a:off x="8846329" y="3112288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Smiley Face 48">
            <a:extLst>
              <a:ext uri="{FF2B5EF4-FFF2-40B4-BE49-F238E27FC236}">
                <a16:creationId xmlns:a16="http://schemas.microsoft.com/office/drawing/2014/main" id="{E98D00CF-B376-ABCC-82A9-40A07CE51A4F}"/>
              </a:ext>
            </a:extLst>
          </p:cNvPr>
          <p:cNvSpPr/>
          <p:nvPr/>
        </p:nvSpPr>
        <p:spPr>
          <a:xfrm>
            <a:off x="8693648" y="3183672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Smiley Face 49">
            <a:extLst>
              <a:ext uri="{FF2B5EF4-FFF2-40B4-BE49-F238E27FC236}">
                <a16:creationId xmlns:a16="http://schemas.microsoft.com/office/drawing/2014/main" id="{2E5810C8-43BA-537A-5954-5E5601B0A1DA}"/>
              </a:ext>
            </a:extLst>
          </p:cNvPr>
          <p:cNvSpPr/>
          <p:nvPr/>
        </p:nvSpPr>
        <p:spPr>
          <a:xfrm>
            <a:off x="8589816" y="3376098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Smiley Face 50">
            <a:extLst>
              <a:ext uri="{FF2B5EF4-FFF2-40B4-BE49-F238E27FC236}">
                <a16:creationId xmlns:a16="http://schemas.microsoft.com/office/drawing/2014/main" id="{B31C6B21-0B15-FF1C-3782-36B42E95E046}"/>
              </a:ext>
            </a:extLst>
          </p:cNvPr>
          <p:cNvSpPr/>
          <p:nvPr/>
        </p:nvSpPr>
        <p:spPr>
          <a:xfrm>
            <a:off x="8540411" y="356712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Smiley Face 51">
            <a:extLst>
              <a:ext uri="{FF2B5EF4-FFF2-40B4-BE49-F238E27FC236}">
                <a16:creationId xmlns:a16="http://schemas.microsoft.com/office/drawing/2014/main" id="{E72600DE-79C4-A7CD-185B-A29E25B15E2E}"/>
              </a:ext>
            </a:extLst>
          </p:cNvPr>
          <p:cNvSpPr/>
          <p:nvPr/>
        </p:nvSpPr>
        <p:spPr>
          <a:xfrm>
            <a:off x="8478708" y="3639046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miley Face 52">
            <a:extLst>
              <a:ext uri="{FF2B5EF4-FFF2-40B4-BE49-F238E27FC236}">
                <a16:creationId xmlns:a16="http://schemas.microsoft.com/office/drawing/2014/main" id="{507A33EA-9CB9-92FD-598F-8C35EC871F32}"/>
              </a:ext>
            </a:extLst>
          </p:cNvPr>
          <p:cNvSpPr/>
          <p:nvPr/>
        </p:nvSpPr>
        <p:spPr>
          <a:xfrm>
            <a:off x="8880439" y="3643234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Left 57">
            <a:extLst>
              <a:ext uri="{FF2B5EF4-FFF2-40B4-BE49-F238E27FC236}">
                <a16:creationId xmlns:a16="http://schemas.microsoft.com/office/drawing/2014/main" id="{2F3AD1F9-7FCF-8ACC-5D1D-550D8B954225}"/>
              </a:ext>
            </a:extLst>
          </p:cNvPr>
          <p:cNvSpPr/>
          <p:nvPr/>
        </p:nvSpPr>
        <p:spPr>
          <a:xfrm>
            <a:off x="6868845" y="3567120"/>
            <a:ext cx="524348" cy="344576"/>
          </a:xfrm>
          <a:prstGeom prst="lef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Left 62">
            <a:extLst>
              <a:ext uri="{FF2B5EF4-FFF2-40B4-BE49-F238E27FC236}">
                <a16:creationId xmlns:a16="http://schemas.microsoft.com/office/drawing/2014/main" id="{3D7F426F-8E0D-761D-D41F-A9D7E6708D46}"/>
              </a:ext>
            </a:extLst>
          </p:cNvPr>
          <p:cNvSpPr/>
          <p:nvPr/>
        </p:nvSpPr>
        <p:spPr>
          <a:xfrm rot="5400000">
            <a:off x="8665185" y="1538593"/>
            <a:ext cx="524348" cy="344576"/>
          </a:xfrm>
          <a:prstGeom prst="lef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Left 64">
            <a:extLst>
              <a:ext uri="{FF2B5EF4-FFF2-40B4-BE49-F238E27FC236}">
                <a16:creationId xmlns:a16="http://schemas.microsoft.com/office/drawing/2014/main" id="{14AAA159-65C7-5230-824E-EFF85E8E1B4A}"/>
              </a:ext>
            </a:extLst>
          </p:cNvPr>
          <p:cNvSpPr/>
          <p:nvPr/>
        </p:nvSpPr>
        <p:spPr>
          <a:xfrm flipH="1">
            <a:off x="10509329" y="3594528"/>
            <a:ext cx="552773" cy="344576"/>
          </a:xfrm>
          <a:prstGeom prst="lef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Left 65">
            <a:extLst>
              <a:ext uri="{FF2B5EF4-FFF2-40B4-BE49-F238E27FC236}">
                <a16:creationId xmlns:a16="http://schemas.microsoft.com/office/drawing/2014/main" id="{AE87D789-47E6-8B5E-C2EE-35061B2FC4D5}"/>
              </a:ext>
            </a:extLst>
          </p:cNvPr>
          <p:cNvSpPr/>
          <p:nvPr/>
        </p:nvSpPr>
        <p:spPr>
          <a:xfrm rot="5400000" flipH="1">
            <a:off x="8719613" y="5464816"/>
            <a:ext cx="455622" cy="344576"/>
          </a:xfrm>
          <a:prstGeom prst="lef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Multiplication Sign 78">
            <a:extLst>
              <a:ext uri="{FF2B5EF4-FFF2-40B4-BE49-F238E27FC236}">
                <a16:creationId xmlns:a16="http://schemas.microsoft.com/office/drawing/2014/main" id="{7C9F51E7-293F-42DF-22BB-86ACBD6314F1}"/>
              </a:ext>
            </a:extLst>
          </p:cNvPr>
          <p:cNvSpPr/>
          <p:nvPr/>
        </p:nvSpPr>
        <p:spPr>
          <a:xfrm>
            <a:off x="7336567" y="2581552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Multiplication Sign 79">
            <a:extLst>
              <a:ext uri="{FF2B5EF4-FFF2-40B4-BE49-F238E27FC236}">
                <a16:creationId xmlns:a16="http://schemas.microsoft.com/office/drawing/2014/main" id="{4C4763DE-960D-78FE-7CBA-F45AB1FDD783}"/>
              </a:ext>
            </a:extLst>
          </p:cNvPr>
          <p:cNvSpPr/>
          <p:nvPr/>
        </p:nvSpPr>
        <p:spPr>
          <a:xfrm>
            <a:off x="7946008" y="2643592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A41D229-4935-225D-89AD-DA5C0AB04CCB}"/>
              </a:ext>
            </a:extLst>
          </p:cNvPr>
          <p:cNvSpPr/>
          <p:nvPr/>
        </p:nvSpPr>
        <p:spPr>
          <a:xfrm>
            <a:off x="7203313" y="2418060"/>
            <a:ext cx="1419431" cy="955878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272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8" presetClass="pat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599 -0.00139 L 0.04987 -0.00093 L -0.00586 -0.0007 L 0.04987 1.11111E-6 L -0.00586 0.00023 L 0.04987 0.00069 L -0.00586 0.00092 L 0.04987 0.00162 L -0.00586 0.00162 L 0.04987 0.00231 L -0.00586 0.00278 L 0.04987 0.00324 L -0.00586 0.00347 L 0.04987 0.00393 L -0.00586 0.0044 L 0.04987 0.00486 L -0.00599 0.00509 " pathEditMode="relative" rAng="16200000" ptsTypes="AAAAAAAAAAAAAAAAA">
                                      <p:cBhvr>
                                        <p:cTn id="30" dur="3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86" y="324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38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4.44444E-6 L -0.00026 0.0993 L -0.00039 0.00023 L -0.00078 0.0993 L -0.00091 0.00023 L -0.00117 0.0993 L -0.0013 0.00023 L -0.00169 0.0993 L -0.00169 0.00023 L -0.00208 0.0993 L -0.00234 0.00023 L -0.0026 0.0993 L -0.00273 0.00023 L -0.00299 0.0993 L -0.00325 0.00023 L -0.00351 0.0993 L -0.00364 4.44444E-6 " pathEditMode="relative" rAng="0" ptsTypes="AAAAAAAAAAAAAAAAA">
                                      <p:cBhvr>
                                        <p:cTn id="32" dur="3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4954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38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4.07407E-6 L -0.05469 0.0007 L -0.00013 0.00093 L -0.05469 0.00162 L -0.00013 0.00186 L -0.05469 0.00232 L -0.00013 0.00255 L -0.05469 0.00324 L -0.00013 0.00324 L -0.05469 0.00394 L -0.00013 0.0044 L -0.05469 0.00487 L -0.00013 0.0051 L -0.05469 0.00556 L -0.00013 0.00602 L -0.05469 0.00649 L 4.58333E-6 0.00672 " pathEditMode="relative" rAng="16200000" ptsTypes="AAAAAAAAAAAAAAAAA">
                                      <p:cBhvr>
                                        <p:cTn id="34" dur="3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34" y="347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38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35 -0.00417 L 0.00183 -0.09329 L 0.0017 -0.0044 L 0.00105 -0.09329 L 0.00092 -0.0044 L 0.00039 -0.09329 L 0.00026 -0.0044 L -0.00039 -0.09329 L -0.00039 -0.0044 L -0.00104 -0.09329 L -0.00143 -0.0044 L -0.00182 -0.09329 L -0.00195 -0.0044 L -0.00247 -0.09329 L -0.00286 -0.0044 L -0.00325 -0.09329 L -0.00338 -0.00417 " pathEditMode="relative" rAng="0" ptsTypes="AAAAAAAAAAAAAAAAA">
                                      <p:cBhvr>
                                        <p:cTn id="36" dur="3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6" y="-446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0 L 0.01498 0.11273 " pathEditMode="relative" rAng="0" ptsTypes="AA">
                                      <p:cBhvr>
                                        <p:cTn id="70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42" y="5625"/>
                                    </p:animMotion>
                                  </p:childTnLst>
                                </p:cTn>
                              </p:par>
                              <p:par>
                                <p:cTn id="7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1.11111E-6 L -0.02201 0.21736 " pathEditMode="relative" rAng="0" ptsTypes="AA">
                                      <p:cBhvr>
                                        <p:cTn id="7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7" y="10856"/>
                                    </p:animMotion>
                                  </p:childTnLst>
                                </p:cTn>
                              </p:par>
                              <p:par>
                                <p:cTn id="73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-7.40741E-7 L 0.01563 0.29491 " pathEditMode="relative" rAng="0" ptsTypes="AA">
                                      <p:cBhvr>
                                        <p:cTn id="7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81" y="14745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-1.11111E-6 L -0.11719 0.00764 " pathEditMode="relative" rAng="0" ptsTypes="AA">
                                      <p:cBhvr>
                                        <p:cTn id="76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859" y="370"/>
                                    </p:animMotion>
                                  </p:childTnLst>
                                </p:cTn>
                              </p:par>
                              <p:par>
                                <p:cTn id="77" presetID="56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3.7037E-7 L -0.14948 -0.00162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474" y="-93"/>
                                    </p:animMotion>
                                  </p:childTnLst>
                                </p:cTn>
                              </p:par>
                              <p:par>
                                <p:cTn id="7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1.85185E-6 L -0.15755 0.01898 " pathEditMode="relative" rAng="0" ptsTypes="AA">
                                      <p:cBhvr>
                                        <p:cTn id="8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78" y="949"/>
                                    </p:animMotion>
                                  </p:childTnLst>
                                </p:cTn>
                              </p:par>
                              <p:par>
                                <p:cTn id="8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2.59259E-6 L -0.00482 -0.16829 " pathEditMode="relative" rAng="0" ptsTypes="AA">
                                      <p:cBhvr>
                                        <p:cTn id="82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7" y="-8426"/>
                                    </p:animMotion>
                                  </p:childTnLst>
                                </p:cTn>
                              </p:par>
                              <p:par>
                                <p:cTn id="83" presetID="56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2.59259E-6 L -0.00781 -0.21643 " pathEditMode="relative" rAng="0" ptsTypes="AA">
                                      <p:cBhvr>
                                        <p:cTn id="8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1" y="-10833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56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0.0112 -0.30093 " pathEditMode="relative" rAng="0" ptsTypes="AA">
                                      <p:cBhvr>
                                        <p:cTn id="86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60" y="-15046"/>
                                    </p:animMotion>
                                  </p:childTnLst>
                                </p:cTn>
                              </p:par>
                              <p:par>
                                <p:cTn id="87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3.33333E-6 L 0.09414 -0.01875 " pathEditMode="relative" rAng="0" ptsTypes="AA">
                                      <p:cBhvr>
                                        <p:cTn id="88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701" y="-949"/>
                                    </p:animMotion>
                                  </p:childTnLst>
                                </p:cTn>
                              </p:par>
                              <p:par>
                                <p:cTn id="89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2.22222E-6 L 0.13633 -0.00255 " pathEditMode="relative" rAng="0" ptsTypes="AA">
                                      <p:cBhvr>
                                        <p:cTn id="90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10" y="-139"/>
                                    </p:animMotion>
                                  </p:childTnLst>
                                </p:cTn>
                              </p:par>
                              <p:par>
                                <p:cTn id="9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-3.7037E-7 L 0.1642 -0.00046 " pathEditMode="relative" rAng="0" ptsTypes="AA">
                                      <p:cBhvr>
                                        <p:cTn id="92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203" y="-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2.96296E-6 L 0.16184 0.06574 " pathEditMode="relative" rAng="0" ptsTypes="AA">
                                      <p:cBhvr>
                                        <p:cTn id="154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086" y="3287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3.33333E-6 L 0.08555 0.21875 " pathEditMode="relative" rAng="0" ptsTypes="AA">
                                      <p:cBhvr>
                                        <p:cTn id="156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271" y="10926"/>
                                    </p:animMotion>
                                  </p:childTnLst>
                                </p:cTn>
                              </p:par>
                              <p:par>
                                <p:cTn id="157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2.96296E-6 L 0.072 0.06597 " pathEditMode="relative" rAng="0" ptsTypes="AA">
                                      <p:cBhvr>
                                        <p:cTn id="158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94" y="3287"/>
                                    </p:animMotion>
                                  </p:childTnLst>
                                </p:cTn>
                              </p:par>
                              <p:par>
                                <p:cTn id="15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-4.81481E-6 L -0.04597 0.23982 " pathEditMode="relative" rAng="0" ptsTypes="AA">
                                      <p:cBhvr>
                                        <p:cTn id="160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05" y="11991"/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-2.22222E-6 L -0.13672 0.07685 " pathEditMode="relative" rAng="0" ptsTypes="AA">
                                      <p:cBhvr>
                                        <p:cTn id="162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836" y="3843"/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44444E-6 L 0.01523 0.13912 " pathEditMode="relative" rAng="0" ptsTypes="AA">
                                      <p:cBhvr>
                                        <p:cTn id="164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55" y="6944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3.7037E-6 L -0.09557 -0.11135 " pathEditMode="relative" rAng="0" ptsTypes="AA">
                                      <p:cBhvr>
                                        <p:cTn id="166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779" y="-5579"/>
                                    </p:animMotion>
                                  </p:childTnLst>
                                </p:cTn>
                              </p:par>
                              <p:par>
                                <p:cTn id="167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2.96296E-6 L -0.05196 -0.23866 " pathEditMode="relative" rAng="0" ptsTypes="AA">
                                      <p:cBhvr>
                                        <p:cTn id="168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04" y="-11944"/>
                                    </p:animMotion>
                                  </p:childTnLst>
                                </p:cTn>
                              </p:par>
                              <p:par>
                                <p:cTn id="169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-3.7037E-7 L -0.06784 -0.06273 " pathEditMode="relative" rAng="0" ptsTypes="AA">
                                      <p:cBhvr>
                                        <p:cTn id="170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98" y="-3148"/>
                                    </p:animMotion>
                                  </p:childTnLst>
                                </p:cTn>
                              </p:par>
                              <p:par>
                                <p:cTn id="171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1.11111E-6 L 0.05521 -0.22824 " pathEditMode="relative" rAng="0" ptsTypes="AA">
                                      <p:cBhvr>
                                        <p:cTn id="172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60" y="-11412"/>
                                    </p:animMotion>
                                  </p:childTnLst>
                                </p:cTn>
                              </p:par>
                              <p:par>
                                <p:cTn id="17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4.07407E-6 L 0.15091 -0.11481 " pathEditMode="relative" rAng="0" ptsTypes="AA">
                                      <p:cBhvr>
                                        <p:cTn id="174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539" y="-5741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3.33333E-6 L 0.07396 -0.13866 " pathEditMode="relative" rAng="0" ptsTypes="AA">
                                      <p:cBhvr>
                                        <p:cTn id="176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98" y="-69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500"/>
                            </p:stCondLst>
                            <p:childTnLst>
                              <p:par>
                                <p:cTn id="216" presetID="27" presetClass="emph" presetSubtype="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7" dur="250" autoRev="1" fill="remove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18" dur="250" autoRev="1" fill="remove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19" dur="250" autoRev="1" fill="remove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0" dur="250" autoRev="1" fill="remove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2" dur="250" autoRev="1" fill="remove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23" dur="250" autoRev="1" fill="remove"/>
                                        <p:tgtEl>
                                          <p:spTgt spid="7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24" dur="250" autoRev="1" fill="remove"/>
                                        <p:tgtEl>
                                          <p:spTgt spid="7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5" dur="250" autoRev="1" fill="remove"/>
                                        <p:tgtEl>
                                          <p:spTgt spid="7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7" dur="250" autoRev="1" fill="remove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28" dur="250" autoRev="1" fill="remove"/>
                                        <p:tgtEl>
                                          <p:spTgt spid="7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29" dur="250" autoRev="1" fill="remove"/>
                                        <p:tgtEl>
                                          <p:spTgt spid="7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0" dur="250" autoRev="1" fill="remove"/>
                                        <p:tgtEl>
                                          <p:spTgt spid="7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32" dur="250" autoRev="1" fill="remove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33" dur="250" autoRev="1" fill="remove"/>
                                        <p:tgtEl>
                                          <p:spTgt spid="7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34" dur="250" autoRev="1" fill="remove"/>
                                        <p:tgtEl>
                                          <p:spTgt spid="7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5" dur="250" autoRev="1" fill="remove"/>
                                        <p:tgtEl>
                                          <p:spTgt spid="7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37" dur="250" autoRev="1" fill="remove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38" dur="250" autoRev="1" fill="remove"/>
                                        <p:tgtEl>
                                          <p:spTgt spid="7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39" dur="250" autoRev="1" fill="remove"/>
                                        <p:tgtEl>
                                          <p:spTgt spid="7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0" dur="250" autoRev="1" fill="remove"/>
                                        <p:tgtEl>
                                          <p:spTgt spid="7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2" dur="250" autoRev="1" fill="remove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43" dur="250" autoRev="1" fill="remove"/>
                                        <p:tgtEl>
                                          <p:spTgt spid="7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44" dur="250" autoRev="1" fill="remove"/>
                                        <p:tgtEl>
                                          <p:spTgt spid="7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5" dur="250" autoRev="1" fill="remove"/>
                                        <p:tgtEl>
                                          <p:spTgt spid="7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7" dur="250" autoRev="1" fill="remove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48" dur="250" autoRev="1" fill="remove"/>
                                        <p:tgtEl>
                                          <p:spTgt spid="7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49" dur="250" autoRev="1" fill="remove"/>
                                        <p:tgtEl>
                                          <p:spTgt spid="7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50" dur="250" autoRev="1" fill="remove"/>
                                        <p:tgtEl>
                                          <p:spTgt spid="7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52" dur="250" autoRev="1" fill="remove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53" dur="250" autoRev="1" fill="remove"/>
                                        <p:tgtEl>
                                          <p:spTgt spid="7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54" dur="250" autoRev="1" fill="remove"/>
                                        <p:tgtEl>
                                          <p:spTgt spid="7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55" dur="250" autoRev="1" fill="remove"/>
                                        <p:tgtEl>
                                          <p:spTgt spid="7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57" dur="250" autoRev="1" fill="remove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58" dur="250" autoRev="1" fill="remove"/>
                                        <p:tgtEl>
                                          <p:spTgt spid="7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59" dur="250" autoRev="1" fill="remove"/>
                                        <p:tgtEl>
                                          <p:spTgt spid="7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60" dur="250" autoRev="1" fill="remove"/>
                                        <p:tgtEl>
                                          <p:spTgt spid="7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2" dur="250" autoRev="1" fill="remove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63" dur="250" autoRev="1" fill="remove"/>
                                        <p:tgtEl>
                                          <p:spTgt spid="6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64" dur="250" autoRev="1" fill="remove"/>
                                        <p:tgtEl>
                                          <p:spTgt spid="6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65" dur="250" autoRev="1" fill="remove"/>
                                        <p:tgtEl>
                                          <p:spTgt spid="6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7" dur="250" autoRev="1" fill="remove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68" dur="250" autoRev="1" fill="remove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69" dur="250" autoRev="1" fill="remove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70" dur="250" autoRev="1" fill="remove"/>
                                        <p:tgtEl>
                                          <p:spTgt spid="6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27" presetClass="emph" presetSubtype="0" fill="remove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72" dur="250" autoRev="1" fill="remove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animClr clrSpc="rgb" dir="cw">
                                      <p:cBhvr>
                                        <p:cTn id="273" dur="250" autoRev="1" fill="remove"/>
                                        <p:tgtEl>
                                          <p:spTgt spid="6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E2841"/>
                                      </p:to>
                                    </p:animClr>
                                    <p:set>
                                      <p:cBhvr>
                                        <p:cTn id="274" dur="250" autoRev="1" fill="remove"/>
                                        <p:tgtEl>
                                          <p:spTgt spid="6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75" dur="250" autoRev="1" fill="remove"/>
                                        <p:tgtEl>
                                          <p:spTgt spid="6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2" fill="hold">
                      <p:stCondLst>
                        <p:cond delay="indefinite"/>
                      </p:stCondLst>
                      <p:childTnLst>
                        <p:par>
                          <p:cTn id="283" fill="hold">
                            <p:stCondLst>
                              <p:cond delay="0"/>
                            </p:stCondLst>
                            <p:childTnLst>
                              <p:par>
                                <p:cTn id="2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7" fill="hold">
                      <p:stCondLst>
                        <p:cond delay="indefinite"/>
                      </p:stCondLst>
                      <p:childTnLst>
                        <p:par>
                          <p:cTn id="288"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5" fill="hold">
                            <p:stCondLst>
                              <p:cond delay="500"/>
                            </p:stCondLst>
                            <p:childTnLst>
                              <p:par>
                                <p:cTn id="296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7" dur="500" tmFilter="0, 0; .2, .5; .8, .5; 1, 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8" dur="250" autoRev="1" fill="hold"/>
                                        <p:tgtEl>
                                          <p:spTgt spid="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  <p:bldP spid="67" grpId="1" animBg="1"/>
      <p:bldP spid="68" grpId="0" animBg="1"/>
      <p:bldP spid="68" grpId="1" animBg="1"/>
      <p:bldP spid="69" grpId="0" animBg="1"/>
      <p:bldP spid="69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77" grpId="0" animBg="1"/>
      <p:bldP spid="77" grpId="1" animBg="1"/>
      <p:bldP spid="78" grpId="0" animBg="1"/>
      <p:bldP spid="78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8" grpId="1" animBg="1"/>
      <p:bldP spid="58" grpId="2" animBg="1"/>
      <p:bldP spid="58" grpId="3" animBg="1"/>
      <p:bldP spid="63" grpId="0" animBg="1"/>
      <p:bldP spid="63" grpId="1" animBg="1"/>
      <p:bldP spid="63" grpId="2" animBg="1"/>
      <p:bldP spid="65" grpId="0" animBg="1"/>
      <p:bldP spid="65" grpId="1" animBg="1"/>
      <p:bldP spid="65" grpId="2" animBg="1"/>
      <p:bldP spid="66" grpId="0" animBg="1"/>
      <p:bldP spid="66" grpId="1" animBg="1"/>
      <p:bldP spid="66" grpId="2" animBg="1"/>
      <p:bldP spid="79" grpId="0" animBg="1"/>
      <p:bldP spid="80" grpId="0" animBg="1"/>
      <p:bldP spid="81" grpId="0" animBg="1"/>
      <p:bldP spid="81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FB279-3ADD-CE76-5852-DB8AD2577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DD403-5937-1B08-F2F3-AA7D1747D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 (Core Harvest)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11D4E-FD45-E18F-147A-56688A319A6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Boss eats activated orbs</a:t>
            </a:r>
          </a:p>
          <a:p>
            <a:pPr lvl="1"/>
            <a:r>
              <a:rPr lang="en-US" dirty="0"/>
              <a:t>Zoom</a:t>
            </a:r>
          </a:p>
          <a:p>
            <a:r>
              <a:rPr lang="en-US" dirty="0"/>
              <a:t>Stand in orb path = dead</a:t>
            </a:r>
          </a:p>
          <a:p>
            <a:pPr lvl="1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AF1ED03-391A-618E-F6A7-5CCE05A53AB4}"/>
              </a:ext>
            </a:extLst>
          </p:cNvPr>
          <p:cNvSpPr/>
          <p:nvPr/>
        </p:nvSpPr>
        <p:spPr>
          <a:xfrm>
            <a:off x="6187440" y="996315"/>
            <a:ext cx="5496560" cy="549656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 descr="L'ura (IGC) - NPC - World of Warcraft">
            <a:extLst>
              <a:ext uri="{FF2B5EF4-FFF2-40B4-BE49-F238E27FC236}">
                <a16:creationId xmlns:a16="http://schemas.microsoft.com/office/drawing/2014/main" id="{248BE4CF-093F-38C7-B044-5248AC2016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4848" y="3123722"/>
            <a:ext cx="1241743" cy="1241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ED1C3D96-DAB4-4B69-9A54-BAF4DF052877}"/>
              </a:ext>
            </a:extLst>
          </p:cNvPr>
          <p:cNvSpPr/>
          <p:nvPr/>
        </p:nvSpPr>
        <p:spPr>
          <a:xfrm>
            <a:off x="6257936" y="2138524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0B14A1D-EFFB-1522-2071-8FEE1A43C7DD}"/>
              </a:ext>
            </a:extLst>
          </p:cNvPr>
          <p:cNvSpPr/>
          <p:nvPr/>
        </p:nvSpPr>
        <p:spPr>
          <a:xfrm>
            <a:off x="7254266" y="1082022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66B47F9-89A3-F2E4-FADA-02216DFF0020}"/>
              </a:ext>
            </a:extLst>
          </p:cNvPr>
          <p:cNvSpPr/>
          <p:nvPr/>
        </p:nvSpPr>
        <p:spPr>
          <a:xfrm>
            <a:off x="10119393" y="1106292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898C08B-95D6-40FB-D5BF-C7FB9DBBCF04}"/>
              </a:ext>
            </a:extLst>
          </p:cNvPr>
          <p:cNvSpPr/>
          <p:nvPr/>
        </p:nvSpPr>
        <p:spPr>
          <a:xfrm>
            <a:off x="11164594" y="2155994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B10E026-82BE-067D-E83D-68FB50DE0732}"/>
              </a:ext>
            </a:extLst>
          </p:cNvPr>
          <p:cNvSpPr/>
          <p:nvPr/>
        </p:nvSpPr>
        <p:spPr>
          <a:xfrm>
            <a:off x="6187851" y="4767398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06479FF-ACB6-D834-4D96-6F299116B6DF}"/>
              </a:ext>
            </a:extLst>
          </p:cNvPr>
          <p:cNvSpPr/>
          <p:nvPr/>
        </p:nvSpPr>
        <p:spPr>
          <a:xfrm>
            <a:off x="7149788" y="5813389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8E71790-1AF2-E0DF-669E-E1DA6A181A3F}"/>
              </a:ext>
            </a:extLst>
          </p:cNvPr>
          <p:cNvSpPr/>
          <p:nvPr/>
        </p:nvSpPr>
        <p:spPr>
          <a:xfrm>
            <a:off x="10180460" y="5890096"/>
            <a:ext cx="513710" cy="5137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728D233-6399-5AEE-7386-F7A910EC7B3F}"/>
              </a:ext>
            </a:extLst>
          </p:cNvPr>
          <p:cNvSpPr/>
          <p:nvPr/>
        </p:nvSpPr>
        <p:spPr>
          <a:xfrm>
            <a:off x="11152829" y="4868332"/>
            <a:ext cx="513710" cy="51371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D5E39E6-9795-9E10-BEF1-8990E33F9AB0}"/>
              </a:ext>
            </a:extLst>
          </p:cNvPr>
          <p:cNvSpPr/>
          <p:nvPr/>
        </p:nvSpPr>
        <p:spPr>
          <a:xfrm>
            <a:off x="8676017" y="6236020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CCC4BDB-2EC4-599F-3883-E18A927328AF}"/>
              </a:ext>
            </a:extLst>
          </p:cNvPr>
          <p:cNvSpPr/>
          <p:nvPr/>
        </p:nvSpPr>
        <p:spPr>
          <a:xfrm>
            <a:off x="5947214" y="3395335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BBB6A7B-B56A-CBA3-B2A2-C65D0D850969}"/>
              </a:ext>
            </a:extLst>
          </p:cNvPr>
          <p:cNvSpPr/>
          <p:nvPr/>
        </p:nvSpPr>
        <p:spPr>
          <a:xfrm>
            <a:off x="8676017" y="739457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E243FF2-632B-B592-4DB8-FFBA02E7F928}"/>
              </a:ext>
            </a:extLst>
          </p:cNvPr>
          <p:cNvSpPr/>
          <p:nvPr/>
        </p:nvSpPr>
        <p:spPr>
          <a:xfrm>
            <a:off x="11410515" y="3484220"/>
            <a:ext cx="513710" cy="513710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Smiley Face 50">
            <a:extLst>
              <a:ext uri="{FF2B5EF4-FFF2-40B4-BE49-F238E27FC236}">
                <a16:creationId xmlns:a16="http://schemas.microsoft.com/office/drawing/2014/main" id="{91D5279E-ADD4-AECF-25B6-4D447A64019F}"/>
              </a:ext>
            </a:extLst>
          </p:cNvPr>
          <p:cNvSpPr/>
          <p:nvPr/>
        </p:nvSpPr>
        <p:spPr>
          <a:xfrm>
            <a:off x="8085506" y="1631208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Smiley Face 51">
            <a:extLst>
              <a:ext uri="{FF2B5EF4-FFF2-40B4-BE49-F238E27FC236}">
                <a16:creationId xmlns:a16="http://schemas.microsoft.com/office/drawing/2014/main" id="{B06A14CF-ACE8-47DD-F60B-C3C8E8D07A4D}"/>
              </a:ext>
            </a:extLst>
          </p:cNvPr>
          <p:cNvSpPr/>
          <p:nvPr/>
        </p:nvSpPr>
        <p:spPr>
          <a:xfrm>
            <a:off x="9556591" y="1790488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Smiley Face 52">
            <a:extLst>
              <a:ext uri="{FF2B5EF4-FFF2-40B4-BE49-F238E27FC236}">
                <a16:creationId xmlns:a16="http://schemas.microsoft.com/office/drawing/2014/main" id="{782A1E2A-7229-5000-EFBB-20B5ABDB0CD5}"/>
              </a:ext>
            </a:extLst>
          </p:cNvPr>
          <p:cNvSpPr/>
          <p:nvPr/>
        </p:nvSpPr>
        <p:spPr>
          <a:xfrm>
            <a:off x="10689001" y="2712895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Smiley Face 53">
            <a:extLst>
              <a:ext uri="{FF2B5EF4-FFF2-40B4-BE49-F238E27FC236}">
                <a16:creationId xmlns:a16="http://schemas.microsoft.com/office/drawing/2014/main" id="{82BD1C56-8B87-D099-5956-48BBBE0DEB1A}"/>
              </a:ext>
            </a:extLst>
          </p:cNvPr>
          <p:cNvSpPr/>
          <p:nvPr/>
        </p:nvSpPr>
        <p:spPr>
          <a:xfrm>
            <a:off x="9752526" y="2724329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Smiley Face 54">
            <a:extLst>
              <a:ext uri="{FF2B5EF4-FFF2-40B4-BE49-F238E27FC236}">
                <a16:creationId xmlns:a16="http://schemas.microsoft.com/office/drawing/2014/main" id="{7452DDEA-05D4-B3EE-BE48-AC09270C3C20}"/>
              </a:ext>
            </a:extLst>
          </p:cNvPr>
          <p:cNvSpPr/>
          <p:nvPr/>
        </p:nvSpPr>
        <p:spPr>
          <a:xfrm>
            <a:off x="11051188" y="4153344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Smiley Face 55">
            <a:extLst>
              <a:ext uri="{FF2B5EF4-FFF2-40B4-BE49-F238E27FC236}">
                <a16:creationId xmlns:a16="http://schemas.microsoft.com/office/drawing/2014/main" id="{3CCA3A51-A608-5375-CB5B-CDD1BC6D67E6}"/>
              </a:ext>
            </a:extLst>
          </p:cNvPr>
          <p:cNvSpPr/>
          <p:nvPr/>
        </p:nvSpPr>
        <p:spPr>
          <a:xfrm>
            <a:off x="9757413" y="4319450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Smiley Face 56">
            <a:extLst>
              <a:ext uri="{FF2B5EF4-FFF2-40B4-BE49-F238E27FC236}">
                <a16:creationId xmlns:a16="http://schemas.microsoft.com/office/drawing/2014/main" id="{493A8A45-816A-CA2F-4606-FB40F05F3745}"/>
              </a:ext>
            </a:extLst>
          </p:cNvPr>
          <p:cNvSpPr/>
          <p:nvPr/>
        </p:nvSpPr>
        <p:spPr>
          <a:xfrm>
            <a:off x="9919696" y="5391796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Smiley Face 59">
            <a:extLst>
              <a:ext uri="{FF2B5EF4-FFF2-40B4-BE49-F238E27FC236}">
                <a16:creationId xmlns:a16="http://schemas.microsoft.com/office/drawing/2014/main" id="{DF9578AE-1556-B0BC-9929-CA4ED682BA32}"/>
              </a:ext>
            </a:extLst>
          </p:cNvPr>
          <p:cNvSpPr/>
          <p:nvPr/>
        </p:nvSpPr>
        <p:spPr>
          <a:xfrm>
            <a:off x="6918157" y="4140784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Smiley Face 60">
            <a:extLst>
              <a:ext uri="{FF2B5EF4-FFF2-40B4-BE49-F238E27FC236}">
                <a16:creationId xmlns:a16="http://schemas.microsoft.com/office/drawing/2014/main" id="{EA1B7176-3D20-99F0-ECBA-880238009693}"/>
              </a:ext>
            </a:extLst>
          </p:cNvPr>
          <p:cNvSpPr/>
          <p:nvPr/>
        </p:nvSpPr>
        <p:spPr>
          <a:xfrm>
            <a:off x="8663334" y="4567701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Smiley Face 61">
            <a:extLst>
              <a:ext uri="{FF2B5EF4-FFF2-40B4-BE49-F238E27FC236}">
                <a16:creationId xmlns:a16="http://schemas.microsoft.com/office/drawing/2014/main" id="{8AAF64B8-50D7-5B61-8ACE-1A9CEEB59C8A}"/>
              </a:ext>
            </a:extLst>
          </p:cNvPr>
          <p:cNvSpPr/>
          <p:nvPr/>
        </p:nvSpPr>
        <p:spPr>
          <a:xfrm>
            <a:off x="8078364" y="5613692"/>
            <a:ext cx="399393" cy="399393"/>
          </a:xfrm>
          <a:prstGeom prst="smileyFac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Multiplication Sign 63">
            <a:extLst>
              <a:ext uri="{FF2B5EF4-FFF2-40B4-BE49-F238E27FC236}">
                <a16:creationId xmlns:a16="http://schemas.microsoft.com/office/drawing/2014/main" id="{5074BAD8-8BBA-F651-BB66-261D4F014F92}"/>
              </a:ext>
            </a:extLst>
          </p:cNvPr>
          <p:cNvSpPr/>
          <p:nvPr/>
        </p:nvSpPr>
        <p:spPr>
          <a:xfrm>
            <a:off x="8624379" y="4484723"/>
            <a:ext cx="565348" cy="565348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5EF7E8-75E6-956E-A1C3-FA0E451A6184}"/>
              </a:ext>
            </a:extLst>
          </p:cNvPr>
          <p:cNvSpPr/>
          <p:nvPr/>
        </p:nvSpPr>
        <p:spPr>
          <a:xfrm>
            <a:off x="8174743" y="4262828"/>
            <a:ext cx="1419431" cy="955878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67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1.11111E-6 L 0.00039 0.39907 " pathEditMode="relative" rAng="0" ptsTypes="AA">
                                      <p:cBhvr>
                                        <p:cTn id="1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19954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7.40741E-7 L 0.00039 -0.40949 " pathEditMode="relative" rAng="0" ptsTypes="AA">
                                      <p:cBhvr>
                                        <p:cTn id="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2048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2.59259E-6 L 0.22422 0.00139 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11" y="6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3.7037E-7 L -0.22292 -0.00532 " pathEditMode="relative" rAng="0" ptsTypes="AA">
                                      <p:cBhvr>
                                        <p:cTn id="2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146" y="-278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200"/>
                            </p:stCondLst>
                            <p:childTnLst>
                              <p:par>
                                <p:cTn id="26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 tmFilter="0, 0; .2, .5; .8, .5; 1, 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5" dur="250" autoRev="1" fill="hold"/>
                                        <p:tgtEl>
                                          <p:spTgt spid="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64" grpId="0" animBg="1"/>
      <p:bldP spid="65" grpId="0" animBg="1"/>
      <p:bldP spid="65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B6FA3-F3ED-C524-95BE-F9B548B1C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D75E-1BDB-A520-3EA4-CEA2AA470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3 (05:30 - end)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13F02-10A9-5993-F139-2EE4745A24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 gave up here and got distracted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D63A1B-41EB-FA5A-AC38-93A0D3B7F8C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127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59FE9-DAA4-C17A-61C5-C36F14CC3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 Stats!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1F06D-4BBF-390B-AEB1-950168A61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276 guilds have killed this boss</a:t>
            </a:r>
          </a:p>
          <a:p>
            <a:r>
              <a:rPr lang="en-US" dirty="0"/>
              <a:t>On average, 350 tries</a:t>
            </a:r>
          </a:p>
          <a:p>
            <a:pPr lvl="1"/>
            <a:r>
              <a:rPr lang="en-US" dirty="0"/>
              <a:t>Lower bound: 280</a:t>
            </a:r>
          </a:p>
          <a:p>
            <a:pPr lvl="1"/>
            <a:r>
              <a:rPr lang="en-US" dirty="0"/>
              <a:t>Upper bound: 410</a:t>
            </a:r>
          </a:p>
          <a:p>
            <a:r>
              <a:rPr lang="en-US" dirty="0"/>
              <a:t>Equivalent to 25-35 </a:t>
            </a:r>
            <a:r>
              <a:rPr lang="en-US" dirty="0" err="1"/>
              <a:t>hrs</a:t>
            </a:r>
            <a:r>
              <a:rPr lang="en-US" dirty="0"/>
              <a:t> of progression</a:t>
            </a:r>
          </a:p>
          <a:p>
            <a:pPr lvl="1"/>
            <a:r>
              <a:rPr lang="en-US" dirty="0"/>
              <a:t>That’s ~12 raid days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806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B5558-594F-C0D9-2083-DA65B148F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6BAA1-2D17-11D6-286B-6C8B79A73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Request For Thoughts And Prayers</a:t>
            </a:r>
            <a:br>
              <a:rPr lang="en-US" dirty="0"/>
            </a:br>
            <a:r>
              <a:rPr lang="en-US" dirty="0"/>
              <a:t>(Less Fun Stats)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DE7DA-0C67-C737-D939-54361A3DA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have 255 tries</a:t>
            </a:r>
          </a:p>
          <a:p>
            <a:pPr lvl="1"/>
            <a:r>
              <a:rPr lang="en-US" dirty="0"/>
              <a:t>Best try: 43%</a:t>
            </a:r>
          </a:p>
          <a:p>
            <a:pPr lvl="1"/>
            <a:r>
              <a:rPr lang="en-US" dirty="0"/>
              <a:t>First reached phase 3 at try #222</a:t>
            </a:r>
          </a:p>
          <a:p>
            <a:r>
              <a:rPr lang="en-US" dirty="0"/>
              <a:t>Linear Regression (n=60)</a:t>
            </a:r>
          </a:p>
          <a:p>
            <a:pPr lvl="1"/>
            <a:r>
              <a:rPr lang="en-US" dirty="0"/>
              <a:t>y = (1.2)x + 121</a:t>
            </a:r>
          </a:p>
          <a:p>
            <a:pPr lvl="1"/>
            <a:r>
              <a:rPr lang="en-US" dirty="0"/>
              <a:t>y is the total tries</a:t>
            </a:r>
          </a:p>
          <a:p>
            <a:pPr lvl="1"/>
            <a:r>
              <a:rPr lang="en-US" dirty="0"/>
              <a:t>x is the tries it takes to see phase 3 for the first time</a:t>
            </a:r>
          </a:p>
          <a:p>
            <a:pPr lvl="1"/>
            <a:r>
              <a:rPr lang="en-US" dirty="0"/>
              <a:t>Coefficients are statistically significant</a:t>
            </a:r>
          </a:p>
          <a:p>
            <a:pPr lvl="1"/>
            <a:r>
              <a:rPr lang="en-US" dirty="0"/>
              <a:t>Model can explain 70.1% of data</a:t>
            </a:r>
          </a:p>
          <a:p>
            <a:r>
              <a:rPr lang="en-US" dirty="0"/>
              <a:t>Prediction:</a:t>
            </a:r>
          </a:p>
          <a:p>
            <a:pPr lvl="1"/>
            <a:r>
              <a:rPr lang="en-US" dirty="0"/>
              <a:t>When x=222,  y=393 [311,475]</a:t>
            </a:r>
          </a:p>
          <a:p>
            <a:pPr lvl="1"/>
            <a:r>
              <a:rPr lang="en-US" dirty="0"/>
              <a:t>~138 more tries before we kill</a:t>
            </a:r>
          </a:p>
        </p:txBody>
      </p:sp>
    </p:spTree>
    <p:extLst>
      <p:ext uri="{BB962C8B-B14F-4D97-AF65-F5344CB8AC3E}">
        <p14:creationId xmlns:p14="http://schemas.microsoft.com/office/powerpoint/2010/main" val="12167296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1254</TotalTime>
  <Words>726</Words>
  <Application>Microsoft Office PowerPoint</Application>
  <PresentationFormat>Widescreen</PresentationFormat>
  <Paragraphs>167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Office Theme</vt:lpstr>
      <vt:lpstr>Explaining World of Warcraft Boss Mechanics to People Who Don’t Play World of Warcraft So They Can Look At Me Like I’m Crazy</vt:lpstr>
      <vt:lpstr>AGENDA</vt:lpstr>
      <vt:lpstr>WHAT IS…</vt:lpstr>
      <vt:lpstr>TIMELINE AND OVERVIEW</vt:lpstr>
      <vt:lpstr>PHASE 1 (00:00 – 03:06)</vt:lpstr>
      <vt:lpstr>Phase 1 (Matrices)</vt:lpstr>
      <vt:lpstr>Phase 1 (Crystals)</vt:lpstr>
      <vt:lpstr>Phase 1 (Glaives)</vt:lpstr>
      <vt:lpstr>Phase 1 (Memory Game)</vt:lpstr>
      <vt:lpstr>Transition (03:06 – 03:10)</vt:lpstr>
      <vt:lpstr>Intermission (03:10 – 03:40)</vt:lpstr>
      <vt:lpstr>Intermission (Starsplinters)</vt:lpstr>
      <vt:lpstr>Phase 2 (03:45 – 05:30)</vt:lpstr>
      <vt:lpstr>Phase 2 (Beam)</vt:lpstr>
      <vt:lpstr>Phase 2 (Spread Circles)</vt:lpstr>
      <vt:lpstr>Phase 2 (Core Harvest)</vt:lpstr>
      <vt:lpstr>Phase 3 (05:30 - end)</vt:lpstr>
      <vt:lpstr>Fun Stats!</vt:lpstr>
      <vt:lpstr>Formal Request For Thoughts And Prayers (Less Fun Stats)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Si En Elizabeth</dc:creator>
  <cp:lastModifiedBy>Lim Si En Elizabeth</cp:lastModifiedBy>
  <cp:revision>7</cp:revision>
  <dcterms:created xsi:type="dcterms:W3CDTF">2026-05-07T08:59:58Z</dcterms:created>
  <dcterms:modified xsi:type="dcterms:W3CDTF">2026-05-23T09:03:23Z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1418ee5-23e2-415c-a7a0-e3652cb3d681_Enabled">
    <vt:lpwstr>true</vt:lpwstr>
  </property>
  <property fmtid="{D5CDD505-2E9C-101B-9397-08002B2CF9AE}" pid="3" name="MSIP_Label_f1418ee5-23e2-415c-a7a0-e3652cb3d681_SetDate">
    <vt:lpwstr>2026-05-07T09:17:08Z</vt:lpwstr>
  </property>
  <property fmtid="{D5CDD505-2E9C-101B-9397-08002B2CF9AE}" pid="4" name="MSIP_Label_f1418ee5-23e2-415c-a7a0-e3652cb3d681_Method">
    <vt:lpwstr>Standard</vt:lpwstr>
  </property>
  <property fmtid="{D5CDD505-2E9C-101B-9397-08002B2CF9AE}" pid="5" name="MSIP_Label_f1418ee5-23e2-415c-a7a0-e3652cb3d681_Name">
    <vt:lpwstr>Restricted</vt:lpwstr>
  </property>
  <property fmtid="{D5CDD505-2E9C-101B-9397-08002B2CF9AE}" pid="6" name="MSIP_Label_f1418ee5-23e2-415c-a7a0-e3652cb3d681_SiteId">
    <vt:lpwstr>7e586855-d882-4339-9a56-032d0aa10991</vt:lpwstr>
  </property>
  <property fmtid="{D5CDD505-2E9C-101B-9397-08002B2CF9AE}" pid="7" name="MSIP_Label_f1418ee5-23e2-415c-a7a0-e3652cb3d681_ActionId">
    <vt:lpwstr>033c22f4-efd0-4bba-bfad-b54422dc5c44</vt:lpwstr>
  </property>
  <property fmtid="{D5CDD505-2E9C-101B-9397-08002B2CF9AE}" pid="8" name="MSIP_Label_f1418ee5-23e2-415c-a7a0-e3652cb3d681_ContentBits">
    <vt:lpwstr>2</vt:lpwstr>
  </property>
  <property fmtid="{D5CDD505-2E9C-101B-9397-08002B2CF9AE}" pid="9" name="MSIP_Label_f1418ee5-23e2-415c-a7a0-e3652cb3d681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## RESTRICTED ##</vt:lpwstr>
  </property>
</Properties>
</file>